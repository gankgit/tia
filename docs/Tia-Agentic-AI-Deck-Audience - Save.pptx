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B2C4952-735F-4FAB-BAD1-23BB70ABFCE9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71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500" b="1">
                <a:solidFill>
                  <a:srgbClr val="1D4ED8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1D4ED8"/>
                </a:solidFill>
                <a:latin typeface="Aptos Display"/>
                <a:ea typeface="Aptos Display"/>
                <a:cs typeface="Aptos Display"/>
              </a:rPr>
              <a:t>TIA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DBDABC-BB0D-45A7-B572-C5AECCCD05BB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685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rPr>
              <a:t>Trade Investigative Agents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C53BFC-A52E-402D-8E43-2F637F0876EE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781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Agentic AI for trading-system compliance validation and investigation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7704297-C478-4180-B8C9-B56513538FCE}"/>
              </a:ext>
            </a:extLst>
          </p:cNvPr>
          <p:cNvSpPr>
            <a:spLocks noGrp="1"/>
          </p:cNvSpPr>
          <p:nvPr/>
        </p:nvSpPr>
        <p:spPr>
          <a:xfrm>
            <a:off x="7239000" y="1047750"/>
            <a:ext cx="3714750" cy="1381125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3DDA0D-7EDC-4A00-B1B0-A719B0B4E30A}"/>
              </a:ext>
            </a:extLst>
          </p:cNvPr>
          <p:cNvSpPr>
            <a:spLocks noGrp="1"/>
          </p:cNvSpPr>
          <p:nvPr/>
        </p:nvSpPr>
        <p:spPr>
          <a:xfrm>
            <a:off x="7239000" y="1047750"/>
            <a:ext cx="66675" cy="1381125"/>
          </a:xfrm>
          <a:prstGeom prst="rect">
            <a:avLst/>
          </a:prstGeom>
          <a:solidFill>
            <a:srgbClr val="B91C1C"/>
          </a:solidFill>
          <a:ln w="0">
            <a:solidFill>
              <a:srgbClr val="B91C1C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A954E1-C69F-43F9-834D-60068A569F82}"/>
              </a:ext>
            </a:extLst>
          </p:cNvPr>
          <p:cNvSpPr>
            <a:spLocks noGrp="1"/>
          </p:cNvSpPr>
          <p:nvPr/>
        </p:nvSpPr>
        <p:spPr>
          <a:xfrm>
            <a:off x="7448550" y="1219200"/>
            <a:ext cx="3295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The challenge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77A9BF-6279-4A6A-A323-39A99B64182B}"/>
              </a:ext>
            </a:extLst>
          </p:cNvPr>
          <p:cNvSpPr>
            <a:spLocks noGrp="1"/>
          </p:cNvSpPr>
          <p:nvPr/>
        </p:nvSpPr>
        <p:spPr>
          <a:xfrm>
            <a:off x="7448550" y="1581150"/>
            <a:ext cx="329565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Trading-system failures can move faster than manual investigation and leave fragmented evidence.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1FDFD3-4F14-4117-9070-96777B587CD0}"/>
              </a:ext>
            </a:extLst>
          </p:cNvPr>
          <p:cNvSpPr>
            <a:spLocks noGrp="1"/>
          </p:cNvSpPr>
          <p:nvPr/>
        </p:nvSpPr>
        <p:spPr>
          <a:xfrm>
            <a:off x="7239000" y="2714625"/>
            <a:ext cx="3714750" cy="1381125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61E92E-1AE1-4C25-B887-CA46E1DA6433}"/>
              </a:ext>
            </a:extLst>
          </p:cNvPr>
          <p:cNvSpPr>
            <a:spLocks noGrp="1"/>
          </p:cNvSpPr>
          <p:nvPr/>
        </p:nvSpPr>
        <p:spPr>
          <a:xfrm>
            <a:off x="7239000" y="2714625"/>
            <a:ext cx="66675" cy="1381125"/>
          </a:xfrm>
          <a:prstGeom prst="rect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D73B67-B84E-4B2D-BC59-21D8FEF93BE7}"/>
              </a:ext>
            </a:extLst>
          </p:cNvPr>
          <p:cNvSpPr>
            <a:spLocks noGrp="1"/>
          </p:cNvSpPr>
          <p:nvPr/>
        </p:nvSpPr>
        <p:spPr>
          <a:xfrm>
            <a:off x="7448550" y="2886075"/>
            <a:ext cx="3295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The MVP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FFD4EA-8930-4E32-B7A9-D64E0266F21E}"/>
              </a:ext>
            </a:extLst>
          </p:cNvPr>
          <p:cNvSpPr>
            <a:spLocks noGrp="1"/>
          </p:cNvSpPr>
          <p:nvPr/>
        </p:nvSpPr>
        <p:spPr>
          <a:xfrm>
            <a:off x="7448550" y="3248025"/>
            <a:ext cx="329565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TIA validates controls, gathers evidence, coordinates agents, and produces explainable findings.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11FD98A-E656-405F-AF6F-728AA7E2283B}"/>
              </a:ext>
            </a:extLst>
          </p:cNvPr>
          <p:cNvSpPr>
            <a:spLocks noGrp="1"/>
          </p:cNvSpPr>
          <p:nvPr/>
        </p:nvSpPr>
        <p:spPr>
          <a:xfrm>
            <a:off x="7239000" y="4381500"/>
            <a:ext cx="3714750" cy="1381125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3FAB7A-C3CD-4948-89EE-D481A2CE166A}"/>
              </a:ext>
            </a:extLst>
          </p:cNvPr>
          <p:cNvSpPr>
            <a:spLocks noGrp="1"/>
          </p:cNvSpPr>
          <p:nvPr/>
        </p:nvSpPr>
        <p:spPr>
          <a:xfrm>
            <a:off x="7239000" y="4381500"/>
            <a:ext cx="66675" cy="1381125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61F123-10BA-43C6-B90A-DF9E9AC41F52}"/>
              </a:ext>
            </a:extLst>
          </p:cNvPr>
          <p:cNvSpPr>
            <a:spLocks noGrp="1"/>
          </p:cNvSpPr>
          <p:nvPr/>
        </p:nvSpPr>
        <p:spPr>
          <a:xfrm>
            <a:off x="7448550" y="4552950"/>
            <a:ext cx="3295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The direction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9C810B-7201-4D05-8CC3-983CB01FA29A}"/>
              </a:ext>
            </a:extLst>
          </p:cNvPr>
          <p:cNvSpPr>
            <a:spLocks noGrp="1"/>
          </p:cNvSpPr>
          <p:nvPr/>
        </p:nvSpPr>
        <p:spPr>
          <a:xfrm>
            <a:off x="7448550" y="4914900"/>
            <a:ext cx="329565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A focused MVP today, extensible into a standalone trading compliance investigation platform.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416D1B-E186-46D0-A40F-566891BEC370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TIA MVP | 1/8</a:t>
            </a:r>
          </a:p>
        </p:txBody>
      </p:sp>
    </p:spTree>
    <p:extLst>
      <p:ext uri="{BB962C8B-B14F-4D97-AF65-F5344CB8AC3E}">
        <p14:creationId xmlns:p14="http://schemas.microsoft.com/office/powerpoint/2010/main" val="1664094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114ED9C-EA1E-4D1D-A36B-50522BA79992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PROBLEM CONTEXT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FD616F-ACA4-4CF6-B820-9382A372AB09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9144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rPr>
              <a:t>Trading failures are fast; evidence is fragmented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87E8A7-6A20-40FA-AD0F-48A1B188B7FB}"/>
              </a:ext>
            </a:extLst>
          </p:cNvPr>
          <p:cNvSpPr>
            <a:spLocks noGrp="1"/>
          </p:cNvSpPr>
          <p:nvPr/>
        </p:nvSpPr>
        <p:spPr>
          <a:xfrm>
            <a:off x="685799" y="1657350"/>
            <a:ext cx="11378381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53657A"/>
                </a:solidFill>
                <a:latin typeface="Aptos"/>
                <a:ea typeface="Aptos"/>
                <a:cs typeface="Aptos"/>
              </a:rPr>
              <a:t>A bad configuration, weak pre-trade control, market-data issue, or missing kill switch can create risk before teams can reconstruct what happened.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542C66-E62B-4974-ACE0-11160231AF5C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TIA MVP | 2/8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6E750A1-F517-4DC9-AAEE-1D7ED1E0206F}"/>
              </a:ext>
            </a:extLst>
          </p:cNvPr>
          <p:cNvSpPr>
            <a:spLocks noGrp="1"/>
          </p:cNvSpPr>
          <p:nvPr/>
        </p:nvSpPr>
        <p:spPr>
          <a:xfrm>
            <a:off x="876300" y="2381250"/>
            <a:ext cx="3048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D74742-5A11-45F3-AA60-958368A4FD8C}"/>
              </a:ext>
            </a:extLst>
          </p:cNvPr>
          <p:cNvSpPr>
            <a:spLocks noGrp="1"/>
          </p:cNvSpPr>
          <p:nvPr/>
        </p:nvSpPr>
        <p:spPr>
          <a:xfrm>
            <a:off x="876300" y="2381250"/>
            <a:ext cx="66675" cy="1428750"/>
          </a:xfrm>
          <a:prstGeom prst="rect">
            <a:avLst/>
          </a:prstGeom>
          <a:solidFill>
            <a:srgbClr val="B91C1C"/>
          </a:solidFill>
          <a:ln w="0">
            <a:solidFill>
              <a:srgbClr val="B91C1C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D52D0F-8251-4A37-AE74-B540840E3670}"/>
              </a:ext>
            </a:extLst>
          </p:cNvPr>
          <p:cNvSpPr>
            <a:spLocks noGrp="1"/>
          </p:cNvSpPr>
          <p:nvPr/>
        </p:nvSpPr>
        <p:spPr>
          <a:xfrm>
            <a:off x="1085850" y="2552700"/>
            <a:ext cx="2628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Speed of impact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4AB24B-410D-4DFC-87D3-1BE4F22C96AB}"/>
              </a:ext>
            </a:extLst>
          </p:cNvPr>
          <p:cNvSpPr>
            <a:spLocks noGrp="1"/>
          </p:cNvSpPr>
          <p:nvPr/>
        </p:nvSpPr>
        <p:spPr>
          <a:xfrm>
            <a:off x="1085850" y="2914650"/>
            <a:ext cx="2628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Automated systems can create material exposure in seconds or minutes.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492A8F0-1976-44BF-9FA1-ACEB414DDECB}"/>
              </a:ext>
            </a:extLst>
          </p:cNvPr>
          <p:cNvSpPr>
            <a:spLocks noGrp="1"/>
          </p:cNvSpPr>
          <p:nvPr/>
        </p:nvSpPr>
        <p:spPr>
          <a:xfrm>
            <a:off x="4572000" y="2381250"/>
            <a:ext cx="3048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FD4353-5D0F-47F8-832D-CBC02F5839C5}"/>
              </a:ext>
            </a:extLst>
          </p:cNvPr>
          <p:cNvSpPr>
            <a:spLocks noGrp="1"/>
          </p:cNvSpPr>
          <p:nvPr/>
        </p:nvSpPr>
        <p:spPr>
          <a:xfrm>
            <a:off x="4572000" y="2381250"/>
            <a:ext cx="66675" cy="1428750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A06BFD-8D00-404C-B977-EE81395C32D8}"/>
              </a:ext>
            </a:extLst>
          </p:cNvPr>
          <p:cNvSpPr>
            <a:spLocks noGrp="1"/>
          </p:cNvSpPr>
          <p:nvPr/>
        </p:nvSpPr>
        <p:spPr>
          <a:xfrm>
            <a:off x="4781550" y="2552700"/>
            <a:ext cx="2628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Evidence complexity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70BABE-B79A-4AD2-A19D-9FF1B137FB5C}"/>
              </a:ext>
            </a:extLst>
          </p:cNvPr>
          <p:cNvSpPr>
            <a:spLocks noGrp="1"/>
          </p:cNvSpPr>
          <p:nvPr/>
        </p:nvSpPr>
        <p:spPr>
          <a:xfrm>
            <a:off x="4781550" y="2914650"/>
            <a:ext cx="2628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Orders, market data, engine state, admin actions, and exchange responses often sit in separate systems.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C5EAE82-8FDC-4E89-82E1-5DDAF14C2DF9}"/>
              </a:ext>
            </a:extLst>
          </p:cNvPr>
          <p:cNvSpPr>
            <a:spLocks noGrp="1"/>
          </p:cNvSpPr>
          <p:nvPr/>
        </p:nvSpPr>
        <p:spPr>
          <a:xfrm>
            <a:off x="8267700" y="2381250"/>
            <a:ext cx="3048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B03553-6630-4D74-A885-95760996A2F9}"/>
              </a:ext>
            </a:extLst>
          </p:cNvPr>
          <p:cNvSpPr>
            <a:spLocks noGrp="1"/>
          </p:cNvSpPr>
          <p:nvPr/>
        </p:nvSpPr>
        <p:spPr>
          <a:xfrm>
            <a:off x="8267700" y="2381250"/>
            <a:ext cx="66675" cy="142875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186A58-9EF9-426A-B2D3-A340E36E17A9}"/>
              </a:ext>
            </a:extLst>
          </p:cNvPr>
          <p:cNvSpPr>
            <a:spLocks noGrp="1"/>
          </p:cNvSpPr>
          <p:nvPr/>
        </p:nvSpPr>
        <p:spPr>
          <a:xfrm>
            <a:off x="8477250" y="2552700"/>
            <a:ext cx="2628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Audit pressure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95666A-1D7F-4E46-828C-0E0FA55566A5}"/>
              </a:ext>
            </a:extLst>
          </p:cNvPr>
          <p:cNvSpPr>
            <a:spLocks noGrp="1"/>
          </p:cNvSpPr>
          <p:nvPr/>
        </p:nvSpPr>
        <p:spPr>
          <a:xfrm>
            <a:off x="8477250" y="2914650"/>
            <a:ext cx="2628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A defensible answer needs expected behavior, observed behavior, evidence, reason codes, and remediation.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08EF810-2183-4F0B-9E33-2376BF5A1511}"/>
              </a:ext>
            </a:extLst>
          </p:cNvPr>
          <p:cNvSpPr>
            <a:spLocks noGrp="1"/>
          </p:cNvSpPr>
          <p:nvPr/>
        </p:nvSpPr>
        <p:spPr>
          <a:xfrm>
            <a:off x="1428750" y="4752975"/>
            <a:ext cx="76200" cy="76200"/>
          </a:xfrm>
          <a:prstGeom prst="ellipse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2A6CE8-99BD-4296-9FCB-8B67CC102929}"/>
              </a:ext>
            </a:extLst>
          </p:cNvPr>
          <p:cNvSpPr>
            <a:spLocks noGrp="1"/>
          </p:cNvSpPr>
          <p:nvPr/>
        </p:nvSpPr>
        <p:spPr>
          <a:xfrm>
            <a:off x="1657350" y="4667250"/>
            <a:ext cx="8343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The key question is: did the trading system behave correctly?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97806A9-0800-48E5-B79D-8289B336B66F}"/>
              </a:ext>
            </a:extLst>
          </p:cNvPr>
          <p:cNvSpPr>
            <a:spLocks noGrp="1"/>
          </p:cNvSpPr>
          <p:nvPr/>
        </p:nvSpPr>
        <p:spPr>
          <a:xfrm>
            <a:off x="1428750" y="5210175"/>
            <a:ext cx="76200" cy="76200"/>
          </a:xfrm>
          <a:prstGeom prst="ellipse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2E734F-D059-4D16-9790-BA3E8DF7BDD1}"/>
              </a:ext>
            </a:extLst>
          </p:cNvPr>
          <p:cNvSpPr>
            <a:spLocks noGrp="1"/>
          </p:cNvSpPr>
          <p:nvPr/>
        </p:nvSpPr>
        <p:spPr>
          <a:xfrm>
            <a:off x="1657350" y="5124450"/>
            <a:ext cx="8343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TIA makes that answer repeatable, evidence-backed, and easier to review.</a:t>
            </a:r>
          </a:p>
        </p:txBody>
      </p:sp>
    </p:spTree>
    <p:extLst>
      <p:ext uri="{BB962C8B-B14F-4D97-AF65-F5344CB8AC3E}">
        <p14:creationId xmlns:p14="http://schemas.microsoft.com/office/powerpoint/2010/main" val="700661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AA966CB-4468-42D5-8456-1B152390FB9D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INDUSTRY RELEVANCE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F53020-B3C2-4B04-A73C-741E52D9B11D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9144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rPr>
              <a:t>Known incidents show the same risk patterns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965027-C145-487E-9D36-9CE07623D363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952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53657A"/>
                </a:solidFill>
                <a:latin typeface="Aptos"/>
                <a:ea typeface="Aptos"/>
                <a:cs typeface="Aptos"/>
              </a:rPr>
              <a:t>These examples motivate the controls. TIA validates our trading-system response to similar patterns; it does not claim to diagnose external venue root cause without venue evidence feeds.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C7E574-2666-4822-BE41-C3D3852FD9A0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TIA MVP | 3/8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16A68A-A243-48F1-A79D-D6F466941B45}"/>
              </a:ext>
            </a:extLst>
          </p:cNvPr>
          <p:cNvSpPr>
            <a:spLocks noGrp="1"/>
          </p:cNvSpPr>
          <p:nvPr/>
        </p:nvSpPr>
        <p:spPr>
          <a:xfrm>
            <a:off x="3571875" y="6381750"/>
            <a:ext cx="781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Sources: SEC Knight Capital order; MarketWatch Jun 3 2024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91F5F6C-BB03-4E97-B06C-A0F6C3E7FD08}"/>
              </a:ext>
            </a:extLst>
          </p:cNvPr>
          <p:cNvSpPr>
            <a:spLocks noGrp="1"/>
          </p:cNvSpPr>
          <p:nvPr/>
        </p:nvSpPr>
        <p:spPr>
          <a:xfrm>
            <a:off x="1000125" y="2381250"/>
            <a:ext cx="4572000" cy="2286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CBD5F0-8996-48CD-B535-2B05C021564C}"/>
              </a:ext>
            </a:extLst>
          </p:cNvPr>
          <p:cNvSpPr>
            <a:spLocks noGrp="1"/>
          </p:cNvSpPr>
          <p:nvPr/>
        </p:nvSpPr>
        <p:spPr>
          <a:xfrm>
            <a:off x="1000125" y="2381250"/>
            <a:ext cx="66675" cy="2286000"/>
          </a:xfrm>
          <a:prstGeom prst="rect">
            <a:avLst/>
          </a:prstGeom>
          <a:solidFill>
            <a:srgbClr val="B91C1C"/>
          </a:solidFill>
          <a:ln w="0">
            <a:solidFill>
              <a:srgbClr val="B91C1C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186779-ED4E-4771-953C-11300886F5FA}"/>
              </a:ext>
            </a:extLst>
          </p:cNvPr>
          <p:cNvSpPr>
            <a:spLocks noGrp="1"/>
          </p:cNvSpPr>
          <p:nvPr/>
        </p:nvSpPr>
        <p:spPr>
          <a:xfrm>
            <a:off x="1209675" y="2552700"/>
            <a:ext cx="415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Knight Capital | Aug 1, 2012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20BF31-6709-41A9-9891-B0E4F560125D}"/>
              </a:ext>
            </a:extLst>
          </p:cNvPr>
          <p:cNvSpPr>
            <a:spLocks noGrp="1"/>
          </p:cNvSpPr>
          <p:nvPr/>
        </p:nvSpPr>
        <p:spPr>
          <a:xfrm>
            <a:off x="1209675" y="2914650"/>
            <a:ext cx="4152900" cy="1638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A well-known pre-trade control failure pattern: runaway algo behavior, order flooding, kill switch exposure, and deployment-control weakness. Knight lost about $440M.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82991BB-CD55-44C2-AB48-9CFF39267E86}"/>
              </a:ext>
            </a:extLst>
          </p:cNvPr>
          <p:cNvSpPr>
            <a:spLocks noGrp="1"/>
          </p:cNvSpPr>
          <p:nvPr/>
        </p:nvSpPr>
        <p:spPr>
          <a:xfrm>
            <a:off x="6619875" y="2381250"/>
            <a:ext cx="4572000" cy="2286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092BD0-3D5B-49ED-AA2F-2B175EFE8132}"/>
              </a:ext>
            </a:extLst>
          </p:cNvPr>
          <p:cNvSpPr>
            <a:spLocks noGrp="1"/>
          </p:cNvSpPr>
          <p:nvPr/>
        </p:nvSpPr>
        <p:spPr>
          <a:xfrm>
            <a:off x="6619875" y="2381250"/>
            <a:ext cx="66675" cy="2286000"/>
          </a:xfrm>
          <a:prstGeom prst="rect">
            <a:avLst/>
          </a:prstGeom>
          <a:solidFill>
            <a:srgbClr val="B45309"/>
          </a:solidFill>
          <a:ln w="0">
            <a:solidFill>
              <a:srgbClr val="B45309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D48165-3917-41CC-8ACE-F6E509CE2AA5}"/>
              </a:ext>
            </a:extLst>
          </p:cNvPr>
          <p:cNvSpPr>
            <a:spLocks noGrp="1"/>
          </p:cNvSpPr>
          <p:nvPr/>
        </p:nvSpPr>
        <p:spPr>
          <a:xfrm>
            <a:off x="6829425" y="2552700"/>
            <a:ext cx="415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NYSE / Berkshire | Jun 3, 2024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457DFE-2A83-481B-B9D0-977F85283E76}"/>
              </a:ext>
            </a:extLst>
          </p:cNvPr>
          <p:cNvSpPr>
            <a:spLocks noGrp="1"/>
          </p:cNvSpPr>
          <p:nvPr/>
        </p:nvSpPr>
        <p:spPr>
          <a:xfrm>
            <a:off x="6829425" y="2914650"/>
            <a:ext cx="4152900" cy="1638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A recent market-data stress example: a NYSE issue caused Berkshire Hathaway shares to briefly appear down almost 100%, and multiple stocks were halted.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D71680-DE8B-4434-B069-5CFC1B79F586}"/>
              </a:ext>
            </a:extLst>
          </p:cNvPr>
          <p:cNvSpPr>
            <a:spLocks noGrp="1"/>
          </p:cNvSpPr>
          <p:nvPr/>
        </p:nvSpPr>
        <p:spPr>
          <a:xfrm>
            <a:off x="1333500" y="5143500"/>
            <a:ext cx="933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TIA mapping: Knight -&gt; Pre-Trade Risk Control Investigation. NYSE/Berkshire -&gt; Market Data Stress Investigation.</a:t>
            </a:r>
          </a:p>
        </p:txBody>
      </p:sp>
    </p:spTree>
    <p:extLst>
      <p:ext uri="{BB962C8B-B14F-4D97-AF65-F5344CB8AC3E}">
        <p14:creationId xmlns:p14="http://schemas.microsoft.com/office/powerpoint/2010/main" val="1778931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5F9158FC-F746-4DA8-ABA8-722763E5B7D3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SOLUTION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D7F8F6-089E-40AE-92B4-8B196CD9454E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9144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rPr>
              <a:t>Validator plus Investigator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2FEC4F-AD8D-42A6-A459-C02E75736BF7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952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TIA separates deterministic control validation from agentic investigation and explanation.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32DE22-D7DF-47EA-AF14-570BC27AC18B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TIA MVP | 4/8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90AF28E-55F8-44DF-85EA-BD98D2276C11}"/>
              </a:ext>
            </a:extLst>
          </p:cNvPr>
          <p:cNvSpPr>
            <a:spLocks noGrp="1"/>
          </p:cNvSpPr>
          <p:nvPr/>
        </p:nvSpPr>
        <p:spPr>
          <a:xfrm>
            <a:off x="1000125" y="2333625"/>
            <a:ext cx="44767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600616-68FD-4C9F-898E-72D448CA471F}"/>
              </a:ext>
            </a:extLst>
          </p:cNvPr>
          <p:cNvSpPr>
            <a:spLocks noGrp="1"/>
          </p:cNvSpPr>
          <p:nvPr/>
        </p:nvSpPr>
        <p:spPr>
          <a:xfrm>
            <a:off x="1000125" y="2333625"/>
            <a:ext cx="66675" cy="2000250"/>
          </a:xfrm>
          <a:prstGeom prst="rect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712A41-9D13-4EF3-BC5E-1A7B75B196E1}"/>
              </a:ext>
            </a:extLst>
          </p:cNvPr>
          <p:cNvSpPr>
            <a:spLocks noGrp="1"/>
          </p:cNvSpPr>
          <p:nvPr/>
        </p:nvSpPr>
        <p:spPr>
          <a:xfrm>
            <a:off x="1209675" y="2505075"/>
            <a:ext cx="4057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Trading System Validator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D853EB-0A5D-4722-A0C1-9A479D09EE21}"/>
              </a:ext>
            </a:extLst>
          </p:cNvPr>
          <p:cNvSpPr>
            <a:spLocks noGrp="1"/>
          </p:cNvSpPr>
          <p:nvPr/>
        </p:nvSpPr>
        <p:spPr>
          <a:xfrm>
            <a:off x="1209675" y="2867025"/>
            <a:ext cx="40576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Runs specialist validation agents for each control and returns PASS, FAIL, or REVIEW with evidence, confidence, reason codes, and remediation.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2F23D4D-1A17-4188-903A-085B4B1557AD}"/>
              </a:ext>
            </a:extLst>
          </p:cNvPr>
          <p:cNvSpPr>
            <a:spLocks noGrp="1"/>
          </p:cNvSpPr>
          <p:nvPr/>
        </p:nvSpPr>
        <p:spPr>
          <a:xfrm>
            <a:off x="6715125" y="2333625"/>
            <a:ext cx="44767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CCD7CB-A64E-4D77-8C91-C10D7DFDD571}"/>
              </a:ext>
            </a:extLst>
          </p:cNvPr>
          <p:cNvSpPr>
            <a:spLocks noGrp="1"/>
          </p:cNvSpPr>
          <p:nvPr/>
        </p:nvSpPr>
        <p:spPr>
          <a:xfrm>
            <a:off x="6715125" y="2333625"/>
            <a:ext cx="66675" cy="200025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26754B-7A87-4841-8B1B-AC8ED76EF219}"/>
              </a:ext>
            </a:extLst>
          </p:cNvPr>
          <p:cNvSpPr>
            <a:spLocks noGrp="1"/>
          </p:cNvSpPr>
          <p:nvPr/>
        </p:nvSpPr>
        <p:spPr>
          <a:xfrm>
            <a:off x="6924675" y="2505075"/>
            <a:ext cx="4057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Agentic Investigator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9EFB14-88C1-4D1B-8058-9090D5FBCEAF}"/>
              </a:ext>
            </a:extLst>
          </p:cNvPr>
          <p:cNvSpPr>
            <a:spLocks noGrp="1"/>
          </p:cNvSpPr>
          <p:nvPr/>
        </p:nvSpPr>
        <p:spPr>
          <a:xfrm>
            <a:off x="6924675" y="2867025"/>
            <a:ext cx="40576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Uses a planner, specialist agents, regulatory mapping, critic review, and synthesis to produce a final investigation finding.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1D302C7-221A-4482-AA6A-8D98F5870304}"/>
              </a:ext>
            </a:extLst>
          </p:cNvPr>
          <p:cNvSpPr>
            <a:spLocks noGrp="1"/>
          </p:cNvSpPr>
          <p:nvPr/>
        </p:nvSpPr>
        <p:spPr>
          <a:xfrm>
            <a:off x="685800" y="5000625"/>
            <a:ext cx="1714500" cy="819150"/>
          </a:xfrm>
          <a:prstGeom prst="roundRect">
            <a:avLst>
              <a:gd name="adj" fmla="val 9302"/>
            </a:avLst>
          </a:prstGeom>
          <a:solidFill>
            <a:srgbClr val="EEF5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E7AE35-F4F5-4BDB-B985-FD266636776A}"/>
              </a:ext>
            </a:extLst>
          </p:cNvPr>
          <p:cNvSpPr>
            <a:spLocks noGrp="1"/>
          </p:cNvSpPr>
          <p:nvPr/>
        </p:nvSpPr>
        <p:spPr>
          <a:xfrm>
            <a:off x="819150" y="5172075"/>
            <a:ext cx="247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CE5B41-1696-4F11-827C-C8C299358886}"/>
              </a:ext>
            </a:extLst>
          </p:cNvPr>
          <p:cNvSpPr>
            <a:spLocks noGrp="1"/>
          </p:cNvSpPr>
          <p:nvPr/>
        </p:nvSpPr>
        <p:spPr>
          <a:xfrm>
            <a:off x="1143000" y="5172075"/>
            <a:ext cx="1123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Scenario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6B3BDD13-1316-49B5-9D2B-FAC5EEECBE83}"/>
              </a:ext>
            </a:extLst>
          </p:cNvPr>
          <p:cNvSpPr>
            <a:spLocks noGrp="1"/>
          </p:cNvSpPr>
          <p:nvPr/>
        </p:nvSpPr>
        <p:spPr>
          <a:xfrm>
            <a:off x="2466975" y="5286375"/>
            <a:ext cx="247650" cy="266700"/>
          </a:xfrm>
          <a:prstGeom prst="rightArrow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106866C-F6ED-419E-8476-D38CF64B9E51}"/>
              </a:ext>
            </a:extLst>
          </p:cNvPr>
          <p:cNvSpPr>
            <a:spLocks noGrp="1"/>
          </p:cNvSpPr>
          <p:nvPr/>
        </p:nvSpPr>
        <p:spPr>
          <a:xfrm>
            <a:off x="2800350" y="5000625"/>
            <a:ext cx="17145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F534D6-B9D6-40F4-8BF4-0AF2B524BDA7}"/>
              </a:ext>
            </a:extLst>
          </p:cNvPr>
          <p:cNvSpPr>
            <a:spLocks noGrp="1"/>
          </p:cNvSpPr>
          <p:nvPr/>
        </p:nvSpPr>
        <p:spPr>
          <a:xfrm>
            <a:off x="2933700" y="5172075"/>
            <a:ext cx="247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7169A3-FD2E-4125-B852-6DF39E1E4C5E}"/>
              </a:ext>
            </a:extLst>
          </p:cNvPr>
          <p:cNvSpPr>
            <a:spLocks noGrp="1"/>
          </p:cNvSpPr>
          <p:nvPr/>
        </p:nvSpPr>
        <p:spPr>
          <a:xfrm>
            <a:off x="3257550" y="5172075"/>
            <a:ext cx="1123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D74AE59A-40CD-4F1B-A0C9-AD5985269645}"/>
              </a:ext>
            </a:extLst>
          </p:cNvPr>
          <p:cNvSpPr>
            <a:spLocks noGrp="1"/>
          </p:cNvSpPr>
          <p:nvPr/>
        </p:nvSpPr>
        <p:spPr>
          <a:xfrm>
            <a:off x="4581525" y="5286375"/>
            <a:ext cx="247650" cy="266700"/>
          </a:xfrm>
          <a:prstGeom prst="rightArrow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803E983-6CD7-4B49-A969-AAA7A994CF49}"/>
              </a:ext>
            </a:extLst>
          </p:cNvPr>
          <p:cNvSpPr>
            <a:spLocks noGrp="1"/>
          </p:cNvSpPr>
          <p:nvPr/>
        </p:nvSpPr>
        <p:spPr>
          <a:xfrm>
            <a:off x="4914900" y="5000625"/>
            <a:ext cx="1714500" cy="819150"/>
          </a:xfrm>
          <a:prstGeom prst="roundRect">
            <a:avLst>
              <a:gd name="adj" fmla="val 9302"/>
            </a:avLst>
          </a:prstGeom>
          <a:solidFill>
            <a:srgbClr val="EEF5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36AA34E-941C-4699-A59B-943EC9B8B165}"/>
              </a:ext>
            </a:extLst>
          </p:cNvPr>
          <p:cNvSpPr>
            <a:spLocks noGrp="1"/>
          </p:cNvSpPr>
          <p:nvPr/>
        </p:nvSpPr>
        <p:spPr>
          <a:xfrm>
            <a:off x="5048250" y="5172075"/>
            <a:ext cx="247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BADBE2A-9809-4171-88CB-7F97F756D73D}"/>
              </a:ext>
            </a:extLst>
          </p:cNvPr>
          <p:cNvSpPr>
            <a:spLocks noGrp="1"/>
          </p:cNvSpPr>
          <p:nvPr/>
        </p:nvSpPr>
        <p:spPr>
          <a:xfrm>
            <a:off x="5372100" y="5172075"/>
            <a:ext cx="1123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Agents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D83AA552-1EF3-42BF-A3FC-4D36278EA7BC}"/>
              </a:ext>
            </a:extLst>
          </p:cNvPr>
          <p:cNvSpPr>
            <a:spLocks noGrp="1"/>
          </p:cNvSpPr>
          <p:nvPr/>
        </p:nvSpPr>
        <p:spPr>
          <a:xfrm>
            <a:off x="6696075" y="5286375"/>
            <a:ext cx="247650" cy="266700"/>
          </a:xfrm>
          <a:prstGeom prst="rightArrow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CFC7700-EACE-4D41-8C5D-B7AB93F7E7F3}"/>
              </a:ext>
            </a:extLst>
          </p:cNvPr>
          <p:cNvSpPr>
            <a:spLocks noGrp="1"/>
          </p:cNvSpPr>
          <p:nvPr/>
        </p:nvSpPr>
        <p:spPr>
          <a:xfrm>
            <a:off x="7029450" y="5000625"/>
            <a:ext cx="17145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380CDBB-28B6-496A-A9E6-9EA506A2819D}"/>
              </a:ext>
            </a:extLst>
          </p:cNvPr>
          <p:cNvSpPr>
            <a:spLocks noGrp="1"/>
          </p:cNvSpPr>
          <p:nvPr/>
        </p:nvSpPr>
        <p:spPr>
          <a:xfrm>
            <a:off x="7162800" y="5172075"/>
            <a:ext cx="247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415A1A1-CF4D-46B1-9CBD-BC3F60CA7DE7}"/>
              </a:ext>
            </a:extLst>
          </p:cNvPr>
          <p:cNvSpPr>
            <a:spLocks noGrp="1"/>
          </p:cNvSpPr>
          <p:nvPr/>
        </p:nvSpPr>
        <p:spPr>
          <a:xfrm>
            <a:off x="7486650" y="5172075"/>
            <a:ext cx="1123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Critic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3F78D898-69FB-454E-93C8-09E4E6A60D1C}"/>
              </a:ext>
            </a:extLst>
          </p:cNvPr>
          <p:cNvSpPr>
            <a:spLocks noGrp="1"/>
          </p:cNvSpPr>
          <p:nvPr/>
        </p:nvSpPr>
        <p:spPr>
          <a:xfrm>
            <a:off x="8810625" y="5286375"/>
            <a:ext cx="247650" cy="266700"/>
          </a:xfrm>
          <a:prstGeom prst="rightArrow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DB35BA7-49FB-4122-9042-D2ECF0A73CEE}"/>
              </a:ext>
            </a:extLst>
          </p:cNvPr>
          <p:cNvSpPr>
            <a:spLocks noGrp="1"/>
          </p:cNvSpPr>
          <p:nvPr/>
        </p:nvSpPr>
        <p:spPr>
          <a:xfrm>
            <a:off x="9144000" y="5000625"/>
            <a:ext cx="1714500" cy="819150"/>
          </a:xfrm>
          <a:prstGeom prst="roundRect">
            <a:avLst>
              <a:gd name="adj" fmla="val 9302"/>
            </a:avLst>
          </a:prstGeom>
          <a:solidFill>
            <a:srgbClr val="EEF5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82E21BA-4AFC-426F-8D5F-3E556323B547}"/>
              </a:ext>
            </a:extLst>
          </p:cNvPr>
          <p:cNvSpPr>
            <a:spLocks noGrp="1"/>
          </p:cNvSpPr>
          <p:nvPr/>
        </p:nvSpPr>
        <p:spPr>
          <a:xfrm>
            <a:off x="9277350" y="5172075"/>
            <a:ext cx="247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5ADF377-43DC-4E15-A217-B0F0E4B5EBEC}"/>
              </a:ext>
            </a:extLst>
          </p:cNvPr>
          <p:cNvSpPr>
            <a:spLocks noGrp="1"/>
          </p:cNvSpPr>
          <p:nvPr/>
        </p:nvSpPr>
        <p:spPr>
          <a:xfrm>
            <a:off x="9601200" y="5172075"/>
            <a:ext cx="1123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Finding</a:t>
            </a:r>
          </a:p>
        </p:txBody>
      </p:sp>
    </p:spTree>
    <p:extLst>
      <p:ext uri="{BB962C8B-B14F-4D97-AF65-F5344CB8AC3E}">
        <p14:creationId xmlns:p14="http://schemas.microsoft.com/office/powerpoint/2010/main" val="20551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05102AF-EB22-4F53-9AA2-BFD8991622AC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DEMO WALKTHROUGH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C19CFF-BF7F-4C46-B47B-76B5A72AA3CF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9144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rPr>
              <a:t>What the MVP demonstrates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941C95-2630-45DE-943C-E94B84575C79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952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The demonstration shows how TIA moves from control validation to agentic investigation and final evidence-backed findings.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CAAB42-1A4E-41FE-9EEC-18A5819C10BF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TIA MVP | 5/8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C223EF1-876D-48D8-A21A-02DBF8C77C63}"/>
              </a:ext>
            </a:extLst>
          </p:cNvPr>
          <p:cNvSpPr>
            <a:spLocks noGrp="1"/>
          </p:cNvSpPr>
          <p:nvPr/>
        </p:nvSpPr>
        <p:spPr>
          <a:xfrm>
            <a:off x="1000125" y="1924050"/>
            <a:ext cx="10191750" cy="514350"/>
          </a:xfrm>
          <a:prstGeom prst="roundRect">
            <a:avLst>
              <a:gd name="adj" fmla="val 14815"/>
            </a:avLst>
          </a:prstGeom>
          <a:solidFill>
            <a:srgbClr val="EEF5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CB5812-637E-4778-94D1-6CB122D39CB6}"/>
              </a:ext>
            </a:extLst>
          </p:cNvPr>
          <p:cNvSpPr>
            <a:spLocks noGrp="1"/>
          </p:cNvSpPr>
          <p:nvPr/>
        </p:nvSpPr>
        <p:spPr>
          <a:xfrm>
            <a:off x="1238250" y="2047875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EDE360-1092-44D9-BB27-8C3F8E738773}"/>
              </a:ext>
            </a:extLst>
          </p:cNvPr>
          <p:cNvSpPr>
            <a:spLocks noGrp="1"/>
          </p:cNvSpPr>
          <p:nvPr/>
        </p:nvSpPr>
        <p:spPr>
          <a:xfrm>
            <a:off x="1809750" y="2047875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Trading System Validation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24DC57-3097-4DD6-8E0F-105DC517555F}"/>
              </a:ext>
            </a:extLst>
          </p:cNvPr>
          <p:cNvSpPr>
            <a:spLocks noGrp="1"/>
          </p:cNvSpPr>
          <p:nvPr/>
        </p:nvSpPr>
        <p:spPr>
          <a:xfrm>
            <a:off x="5000625" y="2047875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Validates the current control catalog and produces direct evidence results.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9AD6F03-AF8B-4527-B0B9-75276E8B2DF8}"/>
              </a:ext>
            </a:extLst>
          </p:cNvPr>
          <p:cNvSpPr>
            <a:spLocks noGrp="1"/>
          </p:cNvSpPr>
          <p:nvPr/>
        </p:nvSpPr>
        <p:spPr>
          <a:xfrm>
            <a:off x="1000125" y="2628900"/>
            <a:ext cx="101917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17BD9E-9DCA-4541-8730-CFA8C706720D}"/>
              </a:ext>
            </a:extLst>
          </p:cNvPr>
          <p:cNvSpPr>
            <a:spLocks noGrp="1"/>
          </p:cNvSpPr>
          <p:nvPr/>
        </p:nvSpPr>
        <p:spPr>
          <a:xfrm>
            <a:off x="1238250" y="2752725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3C9948-0447-45A0-B870-AFDA97A46903}"/>
              </a:ext>
            </a:extLst>
          </p:cNvPr>
          <p:cNvSpPr>
            <a:spLocks noGrp="1"/>
          </p:cNvSpPr>
          <p:nvPr/>
        </p:nvSpPr>
        <p:spPr>
          <a:xfrm>
            <a:off x="1809750" y="2752725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Investigation Flow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17A69D-C66F-489E-8737-146B032658D8}"/>
              </a:ext>
            </a:extLst>
          </p:cNvPr>
          <p:cNvSpPr>
            <a:spLocks noGrp="1"/>
          </p:cNvSpPr>
          <p:nvPr/>
        </p:nvSpPr>
        <p:spPr>
          <a:xfrm>
            <a:off x="5000625" y="2752725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Shows how setup, evidence, agents, and outcomes connect.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F8C4C54-2AC0-43B9-A9EC-06313504E47C}"/>
              </a:ext>
            </a:extLst>
          </p:cNvPr>
          <p:cNvSpPr>
            <a:spLocks noGrp="1"/>
          </p:cNvSpPr>
          <p:nvPr/>
        </p:nvSpPr>
        <p:spPr>
          <a:xfrm>
            <a:off x="1000125" y="3333750"/>
            <a:ext cx="10191750" cy="514350"/>
          </a:xfrm>
          <a:prstGeom prst="roundRect">
            <a:avLst>
              <a:gd name="adj" fmla="val 14815"/>
            </a:avLst>
          </a:prstGeom>
          <a:solidFill>
            <a:srgbClr val="EEF5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837C84-DF1C-4A00-B5CA-7ADF3092D6CF}"/>
              </a:ext>
            </a:extLst>
          </p:cNvPr>
          <p:cNvSpPr>
            <a:spLocks noGrp="1"/>
          </p:cNvSpPr>
          <p:nvPr/>
        </p:nvSpPr>
        <p:spPr>
          <a:xfrm>
            <a:off x="1238250" y="3457575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8CC107-579D-4F0D-8167-5620237B9145}"/>
              </a:ext>
            </a:extLst>
          </p:cNvPr>
          <p:cNvSpPr>
            <a:spLocks noGrp="1"/>
          </p:cNvSpPr>
          <p:nvPr/>
        </p:nvSpPr>
        <p:spPr>
          <a:xfrm>
            <a:off x="1809750" y="3457575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Agents at Work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E44122-216C-4DB8-B1D9-BF641FF04DF3}"/>
              </a:ext>
            </a:extLst>
          </p:cNvPr>
          <p:cNvSpPr>
            <a:spLocks noGrp="1"/>
          </p:cNvSpPr>
          <p:nvPr/>
        </p:nvSpPr>
        <p:spPr>
          <a:xfrm>
            <a:off x="5000625" y="3457575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Shows the validation and investigation agents participating in the solution.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A050EDA-5235-4F25-90DD-85A5A527E76E}"/>
              </a:ext>
            </a:extLst>
          </p:cNvPr>
          <p:cNvSpPr>
            <a:spLocks noGrp="1"/>
          </p:cNvSpPr>
          <p:nvPr/>
        </p:nvSpPr>
        <p:spPr>
          <a:xfrm>
            <a:off x="1000125" y="4038600"/>
            <a:ext cx="101917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3D5A6A9-DDCC-4BE8-9F64-FC3BD3808EEB}"/>
              </a:ext>
            </a:extLst>
          </p:cNvPr>
          <p:cNvSpPr>
            <a:spLocks noGrp="1"/>
          </p:cNvSpPr>
          <p:nvPr/>
        </p:nvSpPr>
        <p:spPr>
          <a:xfrm>
            <a:off x="1238250" y="4162425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3C71F2-4243-4BC1-A9AE-143609AA830A}"/>
              </a:ext>
            </a:extLst>
          </p:cNvPr>
          <p:cNvSpPr>
            <a:spLocks noGrp="1"/>
          </p:cNvSpPr>
          <p:nvPr/>
        </p:nvSpPr>
        <p:spPr>
          <a:xfrm>
            <a:off x="1809750" y="4162425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Investigative Experience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1C91C8-6426-4842-84B7-67D48C976EDE}"/>
              </a:ext>
            </a:extLst>
          </p:cNvPr>
          <p:cNvSpPr>
            <a:spLocks noGrp="1"/>
          </p:cNvSpPr>
          <p:nvPr/>
        </p:nvSpPr>
        <p:spPr>
          <a:xfrm>
            <a:off x="5000625" y="4162425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Runs the two guided investigation use cases.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6B87709-85DD-45D9-9929-94CE2B0AEEB0}"/>
              </a:ext>
            </a:extLst>
          </p:cNvPr>
          <p:cNvSpPr>
            <a:spLocks noGrp="1"/>
          </p:cNvSpPr>
          <p:nvPr/>
        </p:nvSpPr>
        <p:spPr>
          <a:xfrm>
            <a:off x="1000125" y="4743450"/>
            <a:ext cx="10191750" cy="514350"/>
          </a:xfrm>
          <a:prstGeom prst="roundRect">
            <a:avLst>
              <a:gd name="adj" fmla="val 14815"/>
            </a:avLst>
          </a:prstGeom>
          <a:solidFill>
            <a:srgbClr val="EEF5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4C7AD2-97B1-473E-A94E-8854863C6E7A}"/>
              </a:ext>
            </a:extLst>
          </p:cNvPr>
          <p:cNvSpPr>
            <a:spLocks noGrp="1"/>
          </p:cNvSpPr>
          <p:nvPr/>
        </p:nvSpPr>
        <p:spPr>
          <a:xfrm>
            <a:off x="1238250" y="4867275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C55EBC-D0A3-4237-98E5-99BD811286E9}"/>
              </a:ext>
            </a:extLst>
          </p:cNvPr>
          <p:cNvSpPr>
            <a:spLocks noGrp="1"/>
          </p:cNvSpPr>
          <p:nvPr/>
        </p:nvSpPr>
        <p:spPr>
          <a:xfrm>
            <a:off x="1809750" y="4867275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Demo Stack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F733CC1-13BD-419A-BFD7-67026A8787B3}"/>
              </a:ext>
            </a:extLst>
          </p:cNvPr>
          <p:cNvSpPr>
            <a:spLocks noGrp="1"/>
          </p:cNvSpPr>
          <p:nvPr/>
        </p:nvSpPr>
        <p:spPr>
          <a:xfrm>
            <a:off x="5000625" y="4867275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Shows optional Exchange Simulator and AlgoEngine_TCP integration.</a:t>
            </a:r>
          </a:p>
        </p:txBody>
      </p:sp>
    </p:spTree>
    <p:extLst>
      <p:ext uri="{BB962C8B-B14F-4D97-AF65-F5344CB8AC3E}">
        <p14:creationId xmlns:p14="http://schemas.microsoft.com/office/powerpoint/2010/main" val="385487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E42BB15-EFD6-49C6-86BB-8F5180B44DD8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MVP INVESTIGATION CASES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A3E339-AEAD-41A3-8709-BB0E08D4E8BF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9144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rPr>
              <a:t>Two practical trading-control scenarios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983195-E395-435E-A8F7-BB1852592A08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952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The MVP uses seeded demo evidence for predictable presentation results, with an optional active AlgoEngine_TCP connection for live integration testing.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C18510-33F2-422F-82E4-1BE62C5D4A23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TIA MVP | 6/8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EEE91F7-41AB-4CB2-B13E-B24CB3073CCE}"/>
              </a:ext>
            </a:extLst>
          </p:cNvPr>
          <p:cNvSpPr>
            <a:spLocks noGrp="1"/>
          </p:cNvSpPr>
          <p:nvPr/>
        </p:nvSpPr>
        <p:spPr>
          <a:xfrm>
            <a:off x="952500" y="2238375"/>
            <a:ext cx="4572000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EB555D-3DF0-4041-9047-39F93D80BEC7}"/>
              </a:ext>
            </a:extLst>
          </p:cNvPr>
          <p:cNvSpPr>
            <a:spLocks noGrp="1"/>
          </p:cNvSpPr>
          <p:nvPr/>
        </p:nvSpPr>
        <p:spPr>
          <a:xfrm>
            <a:off x="952500" y="2238375"/>
            <a:ext cx="66675" cy="219075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B7F04C-F6EC-4EDC-882E-6386A4AFA639}"/>
              </a:ext>
            </a:extLst>
          </p:cNvPr>
          <p:cNvSpPr>
            <a:spLocks noGrp="1"/>
          </p:cNvSpPr>
          <p:nvPr/>
        </p:nvSpPr>
        <p:spPr>
          <a:xfrm>
            <a:off x="1162050" y="2409825"/>
            <a:ext cx="415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Market Data Stress Investigation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4DD925-6F50-4C59-ABD2-89A26D631A12}"/>
              </a:ext>
            </a:extLst>
          </p:cNvPr>
          <p:cNvSpPr>
            <a:spLocks noGrp="1"/>
          </p:cNvSpPr>
          <p:nvPr/>
        </p:nvSpPr>
        <p:spPr>
          <a:xfrm>
            <a:off x="1162050" y="2771775"/>
            <a:ext cx="4152900" cy="1543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Tests crossed, locked, and one-sided market conditions. The expected result is PASS when protections restrict or normalize unsafe market states.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DECFCEA-BB9F-473B-B93E-5DD1F0F69335}"/>
              </a:ext>
            </a:extLst>
          </p:cNvPr>
          <p:cNvSpPr>
            <a:spLocks noGrp="1"/>
          </p:cNvSpPr>
          <p:nvPr/>
        </p:nvSpPr>
        <p:spPr>
          <a:xfrm>
            <a:off x="6667500" y="2238375"/>
            <a:ext cx="4572000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38D600-2AD2-4307-8855-29DD7BE0B106}"/>
              </a:ext>
            </a:extLst>
          </p:cNvPr>
          <p:cNvSpPr>
            <a:spLocks noGrp="1"/>
          </p:cNvSpPr>
          <p:nvPr/>
        </p:nvSpPr>
        <p:spPr>
          <a:xfrm>
            <a:off x="6667500" y="2238375"/>
            <a:ext cx="66675" cy="2190750"/>
          </a:xfrm>
          <a:prstGeom prst="rect">
            <a:avLst/>
          </a:prstGeom>
          <a:solidFill>
            <a:srgbClr val="B91C1C"/>
          </a:solidFill>
          <a:ln w="0">
            <a:solidFill>
              <a:srgbClr val="B91C1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518963-8D8D-4BEC-8694-3A2EC7D5CDFE}"/>
              </a:ext>
            </a:extLst>
          </p:cNvPr>
          <p:cNvSpPr>
            <a:spLocks noGrp="1"/>
          </p:cNvSpPr>
          <p:nvPr/>
        </p:nvSpPr>
        <p:spPr>
          <a:xfrm>
            <a:off x="6877050" y="2409825"/>
            <a:ext cx="415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Pre-Trade Risk Control Investigation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5E9A63-3F42-4E14-A623-0737B69E18E2}"/>
              </a:ext>
            </a:extLst>
          </p:cNvPr>
          <p:cNvSpPr>
            <a:spLocks noGrp="1"/>
          </p:cNvSpPr>
          <p:nvPr/>
        </p:nvSpPr>
        <p:spPr>
          <a:xfrm>
            <a:off x="6877050" y="2771775"/>
            <a:ext cx="4152900" cy="1543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Tests duplicate orders, bad-price behavior, market orders, parent-child linkage, kill switch, and maximum evaluation frequency.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6DB9BF-1E22-491F-9958-4FADEA7DFECC}"/>
              </a:ext>
            </a:extLst>
          </p:cNvPr>
          <p:cNvSpPr>
            <a:spLocks noGrp="1"/>
          </p:cNvSpPr>
          <p:nvPr/>
        </p:nvSpPr>
        <p:spPr>
          <a:xfrm>
            <a:off x="1238250" y="5095875"/>
            <a:ext cx="971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Output shown to reviewers: final status, confidence, failed/review controls, evidence result, agent trace, and raw validation JSON.</a:t>
            </a:r>
          </a:p>
        </p:txBody>
      </p:sp>
    </p:spTree>
    <p:extLst>
      <p:ext uri="{BB962C8B-B14F-4D97-AF65-F5344CB8AC3E}">
        <p14:creationId xmlns:p14="http://schemas.microsoft.com/office/powerpoint/2010/main" val="685895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887FF9C-5420-4361-83E4-F6F9FB01583B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WHAT MAKES IT AGENTIC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C04AE4-E05E-4B70-A1C1-ADB9235A5526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9144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 dirty="0">
                <a:solidFill>
                  <a:srgbClr val="122033"/>
                </a:solidFill>
                <a:latin typeface="Aptos Display"/>
                <a:ea typeface="Aptos Display"/>
                <a:cs typeface="Aptos Display"/>
              </a:rPr>
              <a:t>Multiple </a:t>
            </a:r>
            <a:r>
              <a:rPr lang="en-US" sz="2775" b="1" dirty="0">
                <a:solidFill>
                  <a:srgbClr val="122033"/>
                </a:solidFill>
                <a:latin typeface="Aptos Display"/>
                <a:ea typeface="Aptos Display"/>
                <a:cs typeface="Aptos Display"/>
              </a:rPr>
              <a:t>AI </a:t>
            </a:r>
            <a:r>
              <a:rPr sz="2775" b="1" dirty="0">
                <a:solidFill>
                  <a:srgbClr val="122033"/>
                </a:solidFill>
                <a:latin typeface="Aptos Display"/>
                <a:ea typeface="Aptos Display"/>
                <a:cs typeface="Aptos Display"/>
              </a:rPr>
              <a:t>agents contribute to a defensible finding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5A0983-3FC0-4216-881F-60F1511DE7F2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952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TIA is not just a static checklist or report generator. It coordinates decisions, tools, evidence checks, critique, and synthesis.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50610E-F149-48FA-877B-49D1FAB3EE30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TIA MVP | 7/8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33378F1-770E-450F-AFC8-9A46999EAA39}"/>
              </a:ext>
            </a:extLst>
          </p:cNvPr>
          <p:cNvSpPr>
            <a:spLocks noGrp="1"/>
          </p:cNvSpPr>
          <p:nvPr/>
        </p:nvSpPr>
        <p:spPr>
          <a:xfrm>
            <a:off x="1047750" y="2228850"/>
            <a:ext cx="76200" cy="76200"/>
          </a:xfrm>
          <a:prstGeom prst="ellipse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D1B128-2FC5-445C-B000-19BC938B130A}"/>
              </a:ext>
            </a:extLst>
          </p:cNvPr>
          <p:cNvSpPr>
            <a:spLocks noGrp="1"/>
          </p:cNvSpPr>
          <p:nvPr/>
        </p:nvSpPr>
        <p:spPr>
          <a:xfrm>
            <a:off x="1276350" y="2143125"/>
            <a:ext cx="8724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Planner selects the investigation path based on the scenario and question.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6FDCCAD-B47F-4F42-B636-CAB09DA03790}"/>
              </a:ext>
            </a:extLst>
          </p:cNvPr>
          <p:cNvSpPr>
            <a:spLocks noGrp="1"/>
          </p:cNvSpPr>
          <p:nvPr/>
        </p:nvSpPr>
        <p:spPr>
          <a:xfrm>
            <a:off x="1047750" y="2781300"/>
            <a:ext cx="76200" cy="76200"/>
          </a:xfrm>
          <a:prstGeom prst="ellipse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A27DD6-95BF-4B4C-8344-7D4033D7A7AF}"/>
              </a:ext>
            </a:extLst>
          </p:cNvPr>
          <p:cNvSpPr>
            <a:spLocks noGrp="1"/>
          </p:cNvSpPr>
          <p:nvPr/>
        </p:nvSpPr>
        <p:spPr>
          <a:xfrm>
            <a:off x="1276350" y="2695575"/>
            <a:ext cx="8724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Specialist agents run deterministic validation tools for market, order, and engine controls.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CFE5350-AE11-4B31-8691-F8B58C12B107}"/>
              </a:ext>
            </a:extLst>
          </p:cNvPr>
          <p:cNvSpPr>
            <a:spLocks noGrp="1"/>
          </p:cNvSpPr>
          <p:nvPr/>
        </p:nvSpPr>
        <p:spPr>
          <a:xfrm>
            <a:off x="1047750" y="3333750"/>
            <a:ext cx="76200" cy="76200"/>
          </a:xfrm>
          <a:prstGeom prst="ellipse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B6C0DB-6677-4B33-BE03-592F47240FC4}"/>
              </a:ext>
            </a:extLst>
          </p:cNvPr>
          <p:cNvSpPr>
            <a:spLocks noGrp="1"/>
          </p:cNvSpPr>
          <p:nvPr/>
        </p:nvSpPr>
        <p:spPr>
          <a:xfrm>
            <a:off x="1276350" y="3248025"/>
            <a:ext cx="8724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Regulatory mapping links evidence back to the active control catalog.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3053E1C-5007-4988-BD94-557404B80007}"/>
              </a:ext>
            </a:extLst>
          </p:cNvPr>
          <p:cNvSpPr>
            <a:spLocks noGrp="1"/>
          </p:cNvSpPr>
          <p:nvPr/>
        </p:nvSpPr>
        <p:spPr>
          <a:xfrm>
            <a:off x="1047750" y="3886200"/>
            <a:ext cx="76200" cy="76200"/>
          </a:xfrm>
          <a:prstGeom prst="ellipse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92C872-6DD2-4D65-B81F-D37FBAB7BBED}"/>
              </a:ext>
            </a:extLst>
          </p:cNvPr>
          <p:cNvSpPr>
            <a:spLocks noGrp="1"/>
          </p:cNvSpPr>
          <p:nvPr/>
        </p:nvSpPr>
        <p:spPr>
          <a:xfrm>
            <a:off x="1276350" y="3800475"/>
            <a:ext cx="8724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Critic challenges missing or contradictory evidence.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3BF06F3-1780-4743-8A32-C7F257B35A7E}"/>
              </a:ext>
            </a:extLst>
          </p:cNvPr>
          <p:cNvSpPr>
            <a:spLocks noGrp="1"/>
          </p:cNvSpPr>
          <p:nvPr/>
        </p:nvSpPr>
        <p:spPr>
          <a:xfrm>
            <a:off x="1047750" y="4438650"/>
            <a:ext cx="76200" cy="76200"/>
          </a:xfrm>
          <a:prstGeom prst="ellipse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218B48-5BE6-4171-B008-8F217DE09934}"/>
              </a:ext>
            </a:extLst>
          </p:cNvPr>
          <p:cNvSpPr>
            <a:spLocks noGrp="1"/>
          </p:cNvSpPr>
          <p:nvPr/>
        </p:nvSpPr>
        <p:spPr>
          <a:xfrm>
            <a:off x="1276350" y="4352925"/>
            <a:ext cx="8724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Synthesizer produces final status, confidence, root cause, and recommended actions.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096DCF2-8CD3-4FB6-9009-F304E5E4A4F9}"/>
              </a:ext>
            </a:extLst>
          </p:cNvPr>
          <p:cNvSpPr>
            <a:spLocks noGrp="1"/>
          </p:cNvSpPr>
          <p:nvPr/>
        </p:nvSpPr>
        <p:spPr>
          <a:xfrm>
            <a:off x="7239000" y="4810126"/>
            <a:ext cx="3714750" cy="11049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E90A99-9A04-4770-9A6C-C2B85DD15ABE}"/>
              </a:ext>
            </a:extLst>
          </p:cNvPr>
          <p:cNvSpPr>
            <a:spLocks noGrp="1"/>
          </p:cNvSpPr>
          <p:nvPr/>
        </p:nvSpPr>
        <p:spPr>
          <a:xfrm>
            <a:off x="7239000" y="4810125"/>
            <a:ext cx="76200" cy="1104900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3472FD-D7A5-4F55-9FFF-4013DDE44195}"/>
              </a:ext>
            </a:extLst>
          </p:cNvPr>
          <p:cNvSpPr>
            <a:spLocks noGrp="1"/>
          </p:cNvSpPr>
          <p:nvPr/>
        </p:nvSpPr>
        <p:spPr>
          <a:xfrm>
            <a:off x="7448550" y="4981575"/>
            <a:ext cx="3295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Key takeaway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E4962C-B016-4F02-9079-EEBD79FF2E87}"/>
              </a:ext>
            </a:extLst>
          </p:cNvPr>
          <p:cNvSpPr>
            <a:spLocks noGrp="1"/>
          </p:cNvSpPr>
          <p:nvPr/>
        </p:nvSpPr>
        <p:spPr>
          <a:xfrm>
            <a:off x="7448550" y="5343525"/>
            <a:ext cx="32956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The final answer is traceable from control result to evidence to agent trace to conclusion.</a:t>
            </a:r>
          </a:p>
        </p:txBody>
      </p:sp>
    </p:spTree>
    <p:extLst>
      <p:ext uri="{BB962C8B-B14F-4D97-AF65-F5344CB8AC3E}">
        <p14:creationId xmlns:p14="http://schemas.microsoft.com/office/powerpoint/2010/main" val="2050734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B6B8E0B-0127-43F7-B1AE-79F741247204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MVP BOUNDARY AND FUTURE PATH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6C7A18-DC39-4E95-81F3-443E2530C3F1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9144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75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rPr>
              <a:t>Scoped now, extensible into a standalone product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3868A9-7E32-48B8-9EDF-A0377F9F678F}"/>
              </a:ext>
            </a:extLst>
          </p:cNvPr>
          <p:cNvSpPr>
            <a:spLocks noGrp="1"/>
          </p:cNvSpPr>
          <p:nvPr/>
        </p:nvSpPr>
        <p:spPr>
          <a:xfrm>
            <a:off x="685800" y="1495886"/>
            <a:ext cx="952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The current build proves the architecture. More agents, evidence sources, and regulations can be added incrementally.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5A757-66FD-41A4-AC88-359F11A4B31C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>
                <a:solidFill>
                  <a:srgbClr val="5365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57A"/>
                </a:solidFill>
                <a:latin typeface="Aptos"/>
                <a:ea typeface="Aptos"/>
                <a:cs typeface="Aptos"/>
              </a:rPr>
              <a:t>TIA MVP | 8/8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C0532F9-029F-4BF5-BD41-75905A78354B}"/>
              </a:ext>
            </a:extLst>
          </p:cNvPr>
          <p:cNvSpPr>
            <a:spLocks noGrp="1"/>
          </p:cNvSpPr>
          <p:nvPr/>
        </p:nvSpPr>
        <p:spPr>
          <a:xfrm>
            <a:off x="838200" y="2238375"/>
            <a:ext cx="314325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B6EE32-CE03-451B-8EB9-E32C6CA29E77}"/>
              </a:ext>
            </a:extLst>
          </p:cNvPr>
          <p:cNvSpPr>
            <a:spLocks noGrp="1"/>
          </p:cNvSpPr>
          <p:nvPr/>
        </p:nvSpPr>
        <p:spPr>
          <a:xfrm>
            <a:off x="838200" y="2238375"/>
            <a:ext cx="66675" cy="2095500"/>
          </a:xfrm>
          <a:prstGeom prst="rect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826C11-9BF9-4B8B-8C53-2BAD62B4690B}"/>
              </a:ext>
            </a:extLst>
          </p:cNvPr>
          <p:cNvSpPr>
            <a:spLocks noGrp="1"/>
          </p:cNvSpPr>
          <p:nvPr/>
        </p:nvSpPr>
        <p:spPr>
          <a:xfrm>
            <a:off x="1047750" y="2409825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MVP today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F02548-EEBF-4A87-A583-7EC704BA5285}"/>
              </a:ext>
            </a:extLst>
          </p:cNvPr>
          <p:cNvSpPr>
            <a:spLocks noGrp="1"/>
          </p:cNvSpPr>
          <p:nvPr/>
        </p:nvSpPr>
        <p:spPr>
          <a:xfrm>
            <a:off x="1047750" y="2771775"/>
            <a:ext cx="2724150" cy="144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Nine controls, two guided investigation cases, seeded demo evidence, Exchange Simulator, optional AlgoEngine_TCP, agent trace, confidence, and remediation.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D996EF5-FD44-4CAF-A5BA-04E239D6D9BE}"/>
              </a:ext>
            </a:extLst>
          </p:cNvPr>
          <p:cNvSpPr>
            <a:spLocks noGrp="1"/>
          </p:cNvSpPr>
          <p:nvPr/>
        </p:nvSpPr>
        <p:spPr>
          <a:xfrm>
            <a:off x="4524375" y="2238375"/>
            <a:ext cx="314325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1B545E-1837-4592-A184-9E7FD71D850F}"/>
              </a:ext>
            </a:extLst>
          </p:cNvPr>
          <p:cNvSpPr>
            <a:spLocks noGrp="1"/>
          </p:cNvSpPr>
          <p:nvPr/>
        </p:nvSpPr>
        <p:spPr>
          <a:xfrm>
            <a:off x="4524375" y="2238375"/>
            <a:ext cx="66675" cy="20955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D662D-BD53-4B33-A6E9-CEA73771CCCB}"/>
              </a:ext>
            </a:extLst>
          </p:cNvPr>
          <p:cNvSpPr>
            <a:spLocks noGrp="1"/>
          </p:cNvSpPr>
          <p:nvPr/>
        </p:nvSpPr>
        <p:spPr>
          <a:xfrm>
            <a:off x="4733925" y="2409825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Next agents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E11EE8-E862-4755-952F-D078269A2639}"/>
              </a:ext>
            </a:extLst>
          </p:cNvPr>
          <p:cNvSpPr>
            <a:spLocks noGrp="1"/>
          </p:cNvSpPr>
          <p:nvPr/>
        </p:nvSpPr>
        <p:spPr>
          <a:xfrm>
            <a:off x="4733925" y="2771775"/>
            <a:ext cx="2724150" cy="144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Runaway order storm, stale market data, venue outage, reject spike, LULD / price-band sanity, deployment mismatch, and replay from real logs.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1A104CC-A1EE-4501-B4EF-CB8C9545DBD0}"/>
              </a:ext>
            </a:extLst>
          </p:cNvPr>
          <p:cNvSpPr>
            <a:spLocks noGrp="1"/>
          </p:cNvSpPr>
          <p:nvPr/>
        </p:nvSpPr>
        <p:spPr>
          <a:xfrm>
            <a:off x="8210550" y="2238375"/>
            <a:ext cx="314325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899CCD-A072-48FB-93EB-71C70CEBC0D6}"/>
              </a:ext>
            </a:extLst>
          </p:cNvPr>
          <p:cNvSpPr>
            <a:spLocks noGrp="1"/>
          </p:cNvSpPr>
          <p:nvPr/>
        </p:nvSpPr>
        <p:spPr>
          <a:xfrm>
            <a:off x="8210550" y="2238375"/>
            <a:ext cx="66675" cy="2095500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23DDE0-2329-404C-8DC5-889F51D04BD5}"/>
              </a:ext>
            </a:extLst>
          </p:cNvPr>
          <p:cNvSpPr>
            <a:spLocks noGrp="1"/>
          </p:cNvSpPr>
          <p:nvPr/>
        </p:nvSpPr>
        <p:spPr>
          <a:xfrm>
            <a:off x="8420100" y="2409825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Product direction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184646-CD2C-49D8-B46D-0D74D8E4C68D}"/>
              </a:ext>
            </a:extLst>
          </p:cNvPr>
          <p:cNvSpPr>
            <a:spLocks noGrp="1"/>
          </p:cNvSpPr>
          <p:nvPr/>
        </p:nvSpPr>
        <p:spPr>
          <a:xfrm>
            <a:off x="8420100" y="2771775"/>
            <a:ext cx="2724150" cy="144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A standalone platform for trading compliance validation, operational resilience testing, and post-incident investigation.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3CF336-17BA-4A47-B833-13B63679484F}"/>
              </a:ext>
            </a:extLst>
          </p:cNvPr>
          <p:cNvSpPr>
            <a:spLocks noGrp="1"/>
          </p:cNvSpPr>
          <p:nvPr/>
        </p:nvSpPr>
        <p:spPr>
          <a:xfrm>
            <a:off x="838200" y="5110162"/>
            <a:ext cx="10891684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1D4ED8"/>
                </a:solidFill>
                <a:latin typeface="Aptos"/>
                <a:ea typeface="Aptos"/>
                <a:cs typeface="Aptos"/>
              </a:rPr>
              <a:t>Bottom line: TIA </a:t>
            </a:r>
            <a:r>
              <a:rPr lang="en-US" sz="1650" b="1" dirty="0">
                <a:solidFill>
                  <a:srgbClr val="1D4ED8"/>
                </a:solidFill>
                <a:latin typeface="Aptos"/>
                <a:ea typeface="Aptos"/>
                <a:cs typeface="Aptos"/>
              </a:rPr>
              <a:t>with the power if Agentic AI and deep root business/market knowledge </a:t>
            </a:r>
            <a:r>
              <a:rPr sz="1650" b="1" dirty="0">
                <a:solidFill>
                  <a:srgbClr val="1D4ED8"/>
                </a:solidFill>
                <a:latin typeface="Aptos"/>
                <a:ea typeface="Aptos"/>
                <a:cs typeface="Aptos"/>
              </a:rPr>
              <a:t>makes trading-system compliance validation faster, more explainable, and easier to defend.</a:t>
            </a:r>
          </a:p>
        </p:txBody>
      </p:sp>
    </p:spTree>
    <p:extLst>
      <p:ext uri="{BB962C8B-B14F-4D97-AF65-F5344CB8AC3E}">
        <p14:creationId xmlns:p14="http://schemas.microsoft.com/office/powerpoint/2010/main" val="203039957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883</Words>
  <Application>Microsoft Office PowerPoint</Application>
  <DocSecurity>0</DocSecurity>
  <PresentationFormat>Widescreen</PresentationFormat>
  <Paragraphs>100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Ganesh Kumar</cp:lastModifiedBy>
  <cp:revision>1</cp:revision>
  <dcterms:created xsi:type="dcterms:W3CDTF">2026-06-19T14:07:58Z</dcterms:created>
  <dcterms:modified xsi:type="dcterms:W3CDTF">2026-06-19T15:37:27Z</dcterms:modified>
</cp:coreProperties>
</file>