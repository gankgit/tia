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0936F17B-538C-4D1F-868C-FC19479E2257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647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TECHNOLOGY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7EF17E-06ED-48CB-A1FB-82E98465D7A7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9334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dirty="0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Agentic investigation </a:t>
            </a:r>
            <a:r>
              <a:rPr lang="en-US" sz="2700" b="1" dirty="0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- orchestration</a:t>
            </a:r>
            <a:endParaRPr sz="2700" b="1" dirty="0">
              <a:solidFill>
                <a:srgbClr val="12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554BDA-420F-4D6D-97D7-03D6023ED6A4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962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TIA separates UI, orchestration, deterministic controls, and trading-system evidence so the MVP remains explainable and auditable.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3C01F6-22AE-489F-AA31-1D4B0D84E72D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TIA Architecture | 1/3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897C1DA-BF52-4DE4-83DA-A82E67A64793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23812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7A835C-3B54-4EFA-9C10-DDB5290276C3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66675" cy="1619250"/>
          </a:xfrm>
          <a:prstGeom prst="rect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812CFD-4A5F-47EE-895C-5BC86B9D6D3B}"/>
              </a:ext>
            </a:extLst>
          </p:cNvPr>
          <p:cNvSpPr>
            <a:spLocks noGrp="1"/>
          </p:cNvSpPr>
          <p:nvPr/>
        </p:nvSpPr>
        <p:spPr>
          <a:xfrm>
            <a:off x="971550" y="2531501"/>
            <a:ext cx="1962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Experience Layer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968BF7-6C1B-447E-A556-D6A78E54BEA9}"/>
              </a:ext>
            </a:extLst>
          </p:cNvPr>
          <p:cNvSpPr>
            <a:spLocks noGrp="1"/>
          </p:cNvSpPr>
          <p:nvPr/>
        </p:nvSpPr>
        <p:spPr>
          <a:xfrm>
            <a:off x="971550" y="2874401"/>
            <a:ext cx="19621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Streamlit UI presents Trading System Validation, Investigative Experience, Investigation Flow, Agents at Work, and Demo Stack.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884BA6B-F03B-456A-802C-C8F602CEC7C9}"/>
              </a:ext>
            </a:extLst>
          </p:cNvPr>
          <p:cNvSpPr>
            <a:spLocks noGrp="1"/>
          </p:cNvSpPr>
          <p:nvPr/>
        </p:nvSpPr>
        <p:spPr>
          <a:xfrm>
            <a:off x="3619500" y="2428875"/>
            <a:ext cx="23812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DE567B-A55A-433F-A0CF-52A5F80B97A0}"/>
              </a:ext>
            </a:extLst>
          </p:cNvPr>
          <p:cNvSpPr>
            <a:spLocks noGrp="1"/>
          </p:cNvSpPr>
          <p:nvPr/>
        </p:nvSpPr>
        <p:spPr>
          <a:xfrm>
            <a:off x="3619500" y="2428875"/>
            <a:ext cx="66675" cy="16192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AA2CD1-44CB-4956-96E4-41B87615361D}"/>
              </a:ext>
            </a:extLst>
          </p:cNvPr>
          <p:cNvSpPr>
            <a:spLocks noGrp="1"/>
          </p:cNvSpPr>
          <p:nvPr/>
        </p:nvSpPr>
        <p:spPr>
          <a:xfrm>
            <a:off x="3829050" y="2531501"/>
            <a:ext cx="1962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Agentic Orchestration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4098D6-BFAE-4715-84AC-46BEB4C1E21E}"/>
              </a:ext>
            </a:extLst>
          </p:cNvPr>
          <p:cNvSpPr>
            <a:spLocks noGrp="1"/>
          </p:cNvSpPr>
          <p:nvPr/>
        </p:nvSpPr>
        <p:spPr>
          <a:xfrm>
            <a:off x="3829050" y="2874401"/>
            <a:ext cx="19621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122033"/>
                </a:solidFill>
                <a:latin typeface="Aptos"/>
                <a:ea typeface="Aptos"/>
                <a:cs typeface="Aptos"/>
              </a:rPr>
              <a:t>Planner, market/order/engine investigators, regulatory mapper, critic, and synthesizer coordinate the investigation path.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E812610-A0CD-4B0F-BDA0-D52396F6C784}"/>
              </a:ext>
            </a:extLst>
          </p:cNvPr>
          <p:cNvSpPr>
            <a:spLocks noGrp="1"/>
          </p:cNvSpPr>
          <p:nvPr/>
        </p:nvSpPr>
        <p:spPr>
          <a:xfrm>
            <a:off x="6477000" y="2428875"/>
            <a:ext cx="23812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2776B5-166C-4E6F-B2D3-8B0956522FD0}"/>
              </a:ext>
            </a:extLst>
          </p:cNvPr>
          <p:cNvSpPr>
            <a:spLocks noGrp="1"/>
          </p:cNvSpPr>
          <p:nvPr/>
        </p:nvSpPr>
        <p:spPr>
          <a:xfrm>
            <a:off x="6477000" y="2428875"/>
            <a:ext cx="66675" cy="1619250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EA05E8-EED3-4DB9-AF18-521ED43164D3}"/>
              </a:ext>
            </a:extLst>
          </p:cNvPr>
          <p:cNvSpPr>
            <a:spLocks noGrp="1"/>
          </p:cNvSpPr>
          <p:nvPr/>
        </p:nvSpPr>
        <p:spPr>
          <a:xfrm>
            <a:off x="6686550" y="2531501"/>
            <a:ext cx="1962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Validation Core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935EE3-5C53-42B0-AEE9-628BEB86A8B6}"/>
              </a:ext>
            </a:extLst>
          </p:cNvPr>
          <p:cNvSpPr>
            <a:spLocks noGrp="1"/>
          </p:cNvSpPr>
          <p:nvPr/>
        </p:nvSpPr>
        <p:spPr>
          <a:xfrm>
            <a:off x="6686550" y="2874401"/>
            <a:ext cx="19621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Deterministic validation agents execute control checks and return PASS, FAIL, or REVIEW with evidence and reason codes.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D90B30C-0593-4D17-BB54-1C547611F374}"/>
              </a:ext>
            </a:extLst>
          </p:cNvPr>
          <p:cNvSpPr>
            <a:spLocks noGrp="1"/>
          </p:cNvSpPr>
          <p:nvPr/>
        </p:nvSpPr>
        <p:spPr>
          <a:xfrm>
            <a:off x="9334500" y="2428875"/>
            <a:ext cx="21907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15D78E-EDBC-42A7-AED3-2DD06612FC5E}"/>
              </a:ext>
            </a:extLst>
          </p:cNvPr>
          <p:cNvSpPr>
            <a:spLocks noGrp="1"/>
          </p:cNvSpPr>
          <p:nvPr/>
        </p:nvSpPr>
        <p:spPr>
          <a:xfrm>
            <a:off x="9334500" y="2428875"/>
            <a:ext cx="66675" cy="1619250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522D2D-1A50-46C1-A7EB-DF5C47F84F8B}"/>
              </a:ext>
            </a:extLst>
          </p:cNvPr>
          <p:cNvSpPr>
            <a:spLocks noGrp="1"/>
          </p:cNvSpPr>
          <p:nvPr/>
        </p:nvSpPr>
        <p:spPr>
          <a:xfrm>
            <a:off x="9544050" y="2531501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Evidence Layer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B62A07-C1FB-43F0-84A7-4CD81DB76CD6}"/>
              </a:ext>
            </a:extLst>
          </p:cNvPr>
          <p:cNvSpPr>
            <a:spLocks noGrp="1"/>
          </p:cNvSpPr>
          <p:nvPr/>
        </p:nvSpPr>
        <p:spPr>
          <a:xfrm>
            <a:off x="9544050" y="2874401"/>
            <a:ext cx="17716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Seeded demo evidence or AlgoEngine_TCP gathers order, market-data, engine, admin, and Exchange Simulator observations.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B2A59AA9-BCB1-4B97-BABA-FB131CBB043F}"/>
              </a:ext>
            </a:extLst>
          </p:cNvPr>
          <p:cNvSpPr>
            <a:spLocks noGrp="1"/>
          </p:cNvSpPr>
          <p:nvPr/>
        </p:nvSpPr>
        <p:spPr>
          <a:xfrm>
            <a:off x="3219450" y="3105150"/>
            <a:ext cx="342900" cy="266700"/>
          </a:xfrm>
          <a:prstGeom prst="rightArrow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0D904F90-0979-4F04-86F2-530F74D4AB43}"/>
              </a:ext>
            </a:extLst>
          </p:cNvPr>
          <p:cNvSpPr>
            <a:spLocks noGrp="1"/>
          </p:cNvSpPr>
          <p:nvPr/>
        </p:nvSpPr>
        <p:spPr>
          <a:xfrm>
            <a:off x="6076950" y="3105150"/>
            <a:ext cx="342900" cy="266700"/>
          </a:xfrm>
          <a:prstGeom prst="rightArrow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16384576-D795-41CC-A8D1-8A8EDE1E276B}"/>
              </a:ext>
            </a:extLst>
          </p:cNvPr>
          <p:cNvSpPr>
            <a:spLocks noGrp="1"/>
          </p:cNvSpPr>
          <p:nvPr/>
        </p:nvSpPr>
        <p:spPr>
          <a:xfrm>
            <a:off x="8934450" y="3105150"/>
            <a:ext cx="342900" cy="266700"/>
          </a:xfrm>
          <a:prstGeom prst="rightArrow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B08DE7F-0204-427B-93C8-C796A1514BCC}"/>
              </a:ext>
            </a:extLst>
          </p:cNvPr>
          <p:cNvSpPr>
            <a:spLocks noGrp="1"/>
          </p:cNvSpPr>
          <p:nvPr/>
        </p:nvSpPr>
        <p:spPr>
          <a:xfrm>
            <a:off x="860937" y="4619625"/>
            <a:ext cx="22860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682ECA-4BBB-4D52-8610-A478044D3987}"/>
              </a:ext>
            </a:extLst>
          </p:cNvPr>
          <p:cNvSpPr>
            <a:spLocks noGrp="1"/>
          </p:cNvSpPr>
          <p:nvPr/>
        </p:nvSpPr>
        <p:spPr>
          <a:xfrm>
            <a:off x="1063111" y="4733925"/>
            <a:ext cx="2019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125" b="1" dirty="0">
                <a:solidFill>
                  <a:srgbClr val="1D4ED8"/>
                </a:solidFill>
                <a:latin typeface="Aptos"/>
                <a:ea typeface="Aptos"/>
                <a:cs typeface="Aptos"/>
              </a:rPr>
              <a:t>Python + </a:t>
            </a:r>
            <a:r>
              <a:rPr sz="1125" b="1" dirty="0" err="1">
                <a:solidFill>
                  <a:srgbClr val="1D4ED8"/>
                </a:solidFill>
                <a:latin typeface="Aptos"/>
                <a:ea typeface="Aptos"/>
                <a:cs typeface="Aptos"/>
              </a:rPr>
              <a:t>Pydantic</a:t>
            </a:r>
            <a:r>
              <a:rPr sz="1125" b="1" dirty="0">
                <a:solidFill>
                  <a:srgbClr val="1D4ED8"/>
                </a:solidFill>
                <a:latin typeface="Aptos"/>
                <a:ea typeface="Aptos"/>
                <a:cs typeface="Aptos"/>
              </a:rPr>
              <a:t> models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F5949C7-C058-464C-AC28-365C7B06FDDE}"/>
              </a:ext>
            </a:extLst>
          </p:cNvPr>
          <p:cNvSpPr>
            <a:spLocks noGrp="1"/>
          </p:cNvSpPr>
          <p:nvPr/>
        </p:nvSpPr>
        <p:spPr>
          <a:xfrm>
            <a:off x="3619500" y="4619625"/>
            <a:ext cx="23812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9087A0-163C-4B14-AE5F-5B6BF37DDB02}"/>
              </a:ext>
            </a:extLst>
          </p:cNvPr>
          <p:cNvSpPr>
            <a:spLocks noGrp="1"/>
          </p:cNvSpPr>
          <p:nvPr/>
        </p:nvSpPr>
        <p:spPr>
          <a:xfrm>
            <a:off x="3808767" y="4733925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Streamlit / optional FastAPI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B022AA4-1386-4CC0-B181-9B96CC53E453}"/>
              </a:ext>
            </a:extLst>
          </p:cNvPr>
          <p:cNvSpPr>
            <a:spLocks noGrp="1"/>
          </p:cNvSpPr>
          <p:nvPr/>
        </p:nvSpPr>
        <p:spPr>
          <a:xfrm>
            <a:off x="6477000" y="4619625"/>
            <a:ext cx="23812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ACA22F-7E41-4AD8-9685-D54468061629}"/>
              </a:ext>
            </a:extLst>
          </p:cNvPr>
          <p:cNvSpPr>
            <a:spLocks noGrp="1"/>
          </p:cNvSpPr>
          <p:nvPr/>
        </p:nvSpPr>
        <p:spPr>
          <a:xfrm>
            <a:off x="6551975" y="4733925"/>
            <a:ext cx="2495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125" b="1" dirty="0">
                <a:solidFill>
                  <a:srgbClr val="B45309"/>
                </a:solidFill>
                <a:latin typeface="Aptos"/>
                <a:ea typeface="Aptos"/>
                <a:cs typeface="Aptos"/>
              </a:rPr>
              <a:t>TCP sockets / FIX-like messages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0EABAD7-7EA6-41E0-A496-DA4B4FBE1B22}"/>
              </a:ext>
            </a:extLst>
          </p:cNvPr>
          <p:cNvSpPr>
            <a:spLocks noGrp="1"/>
          </p:cNvSpPr>
          <p:nvPr/>
        </p:nvSpPr>
        <p:spPr>
          <a:xfrm>
            <a:off x="9330812" y="4619625"/>
            <a:ext cx="2124075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147922B-E485-47DC-BCF5-BE633F79F02C}"/>
              </a:ext>
            </a:extLst>
          </p:cNvPr>
          <p:cNvSpPr>
            <a:spLocks noGrp="1"/>
          </p:cNvSpPr>
          <p:nvPr/>
        </p:nvSpPr>
        <p:spPr>
          <a:xfrm>
            <a:off x="9662037" y="4733925"/>
            <a:ext cx="1733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Exchange + AlgoEngine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2EAEB5-D032-4E68-A3DF-4B98D268BBDD}"/>
              </a:ext>
            </a:extLst>
          </p:cNvPr>
          <p:cNvSpPr>
            <a:spLocks noGrp="1"/>
          </p:cNvSpPr>
          <p:nvPr/>
        </p:nvSpPr>
        <p:spPr>
          <a:xfrm>
            <a:off x="1285875" y="5476875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Design principle: the agentic layer can choose and explain the path, but deterministic validators remain the authority for control outcomes.</a:t>
            </a:r>
          </a:p>
        </p:txBody>
      </p:sp>
    </p:spTree>
    <p:extLst>
      <p:ext uri="{BB962C8B-B14F-4D97-AF65-F5344CB8AC3E}">
        <p14:creationId xmlns:p14="http://schemas.microsoft.com/office/powerpoint/2010/main" val="280698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47214FD8-AA31-4D05-A232-C64626A474E0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647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INVESTIGATION USE CASE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CD47CC-16FB-404D-8951-0F0421C9081E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9334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How the agentic layer thinks and acts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EAB4F3-EA63-41BF-A6A8-18AF4DEE485B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962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The investigation behaves like a Trade Solution Analyst: it selects the right path, calls specialists, challenges evidence, and explains the result.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D54B07-CC54-4E61-AF02-139156217B7D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TIA Architecture | 2/3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AD6BB6C-9585-4FEA-82BD-D46BA980F4BD}"/>
              </a:ext>
            </a:extLst>
          </p:cNvPr>
          <p:cNvSpPr>
            <a:spLocks noGrp="1"/>
          </p:cNvSpPr>
          <p:nvPr/>
        </p:nvSpPr>
        <p:spPr>
          <a:xfrm>
            <a:off x="666750" y="2296446"/>
            <a:ext cx="161925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71AA38-6503-4CE2-BCAD-596070557C8E}"/>
              </a:ext>
            </a:extLst>
          </p:cNvPr>
          <p:cNvSpPr>
            <a:spLocks noGrp="1"/>
          </p:cNvSpPr>
          <p:nvPr/>
        </p:nvSpPr>
        <p:spPr>
          <a:xfrm>
            <a:off x="666750" y="2296446"/>
            <a:ext cx="66675" cy="1524000"/>
          </a:xfrm>
          <a:prstGeom prst="rect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724D25-BE50-40E8-8497-F7D4454AE054}"/>
              </a:ext>
            </a:extLst>
          </p:cNvPr>
          <p:cNvSpPr>
            <a:spLocks noGrp="1"/>
          </p:cNvSpPr>
          <p:nvPr/>
        </p:nvSpPr>
        <p:spPr>
          <a:xfrm>
            <a:off x="876300" y="2369576"/>
            <a:ext cx="120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1. Planner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6A06F2-ED8C-4C1B-96B4-CDBC4006342A}"/>
              </a:ext>
            </a:extLst>
          </p:cNvPr>
          <p:cNvSpPr>
            <a:spLocks noGrp="1"/>
          </p:cNvSpPr>
          <p:nvPr/>
        </p:nvSpPr>
        <p:spPr>
          <a:xfrm>
            <a:off x="876300" y="2663316"/>
            <a:ext cx="12001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Reads testcase, question, and parameters; selects market-first or order-first route.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7C4626B-BF18-43C6-90FE-D8E4EEC0680B}"/>
              </a:ext>
            </a:extLst>
          </p:cNvPr>
          <p:cNvSpPr>
            <a:spLocks noGrp="1"/>
          </p:cNvSpPr>
          <p:nvPr/>
        </p:nvSpPr>
        <p:spPr>
          <a:xfrm>
            <a:off x="2343150" y="2934931"/>
            <a:ext cx="266700" cy="266700"/>
          </a:xfrm>
          <a:prstGeom prst="rightArrow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59F556D-3602-4399-8102-E35DE05C9B1B}"/>
              </a:ext>
            </a:extLst>
          </p:cNvPr>
          <p:cNvSpPr>
            <a:spLocks noGrp="1"/>
          </p:cNvSpPr>
          <p:nvPr/>
        </p:nvSpPr>
        <p:spPr>
          <a:xfrm>
            <a:off x="2686050" y="2296446"/>
            <a:ext cx="161925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4B8B9A-30C8-457C-A901-8BA3F4FD6E0F}"/>
              </a:ext>
            </a:extLst>
          </p:cNvPr>
          <p:cNvSpPr>
            <a:spLocks noGrp="1"/>
          </p:cNvSpPr>
          <p:nvPr/>
        </p:nvSpPr>
        <p:spPr>
          <a:xfrm>
            <a:off x="2686050" y="2306278"/>
            <a:ext cx="66675" cy="15240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7A75BC-292A-4AE7-9EAA-3AA9C10B5C23}"/>
              </a:ext>
            </a:extLst>
          </p:cNvPr>
          <p:cNvSpPr>
            <a:spLocks noGrp="1"/>
          </p:cNvSpPr>
          <p:nvPr/>
        </p:nvSpPr>
        <p:spPr>
          <a:xfrm>
            <a:off x="2895599" y="2369576"/>
            <a:ext cx="132243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2. Specialists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53696A-5051-40B5-9FC2-5661E37D5AC9}"/>
              </a:ext>
            </a:extLst>
          </p:cNvPr>
          <p:cNvSpPr>
            <a:spLocks noGrp="1"/>
          </p:cNvSpPr>
          <p:nvPr/>
        </p:nvSpPr>
        <p:spPr>
          <a:xfrm>
            <a:off x="2895600" y="2663316"/>
            <a:ext cx="12001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Market, order, and engine agents run relevant control groups as tools.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0CF2EE29-26C6-4380-B444-7CB7C031ECE6}"/>
              </a:ext>
            </a:extLst>
          </p:cNvPr>
          <p:cNvSpPr>
            <a:spLocks noGrp="1"/>
          </p:cNvSpPr>
          <p:nvPr/>
        </p:nvSpPr>
        <p:spPr>
          <a:xfrm>
            <a:off x="4362450" y="2934931"/>
            <a:ext cx="266700" cy="266700"/>
          </a:xfrm>
          <a:prstGeom prst="rightArrow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E5428FC-AF3D-4691-96E8-DBB0277BCF2A}"/>
              </a:ext>
            </a:extLst>
          </p:cNvPr>
          <p:cNvSpPr>
            <a:spLocks noGrp="1"/>
          </p:cNvSpPr>
          <p:nvPr/>
        </p:nvSpPr>
        <p:spPr>
          <a:xfrm>
            <a:off x="4705350" y="2296446"/>
            <a:ext cx="161925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DD8A89-62A9-4F75-858C-C3D99129A65C}"/>
              </a:ext>
            </a:extLst>
          </p:cNvPr>
          <p:cNvSpPr>
            <a:spLocks noGrp="1"/>
          </p:cNvSpPr>
          <p:nvPr/>
        </p:nvSpPr>
        <p:spPr>
          <a:xfrm>
            <a:off x="4705350" y="2306278"/>
            <a:ext cx="66675" cy="1524000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564A7B-218C-4B22-A6D4-ABA5F962EC8D}"/>
              </a:ext>
            </a:extLst>
          </p:cNvPr>
          <p:cNvSpPr>
            <a:spLocks noGrp="1"/>
          </p:cNvSpPr>
          <p:nvPr/>
        </p:nvSpPr>
        <p:spPr>
          <a:xfrm>
            <a:off x="4914900" y="2369576"/>
            <a:ext cx="1409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3. Mapper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3623FD-551F-40D5-87B8-E320E1892272}"/>
              </a:ext>
            </a:extLst>
          </p:cNvPr>
          <p:cNvSpPr>
            <a:spLocks noGrp="1"/>
          </p:cNvSpPr>
          <p:nvPr/>
        </p:nvSpPr>
        <p:spPr>
          <a:xfrm>
            <a:off x="4914900" y="2663316"/>
            <a:ext cx="12001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Links validation evidence back to the active TIA control catalog.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CB8735E8-3FFC-42A3-9460-B25A199B9C7E}"/>
              </a:ext>
            </a:extLst>
          </p:cNvPr>
          <p:cNvSpPr>
            <a:spLocks noGrp="1"/>
          </p:cNvSpPr>
          <p:nvPr/>
        </p:nvSpPr>
        <p:spPr>
          <a:xfrm>
            <a:off x="6381750" y="2934931"/>
            <a:ext cx="266700" cy="266700"/>
          </a:xfrm>
          <a:prstGeom prst="rightArrow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0EF48A2-D9D0-4E7F-9B23-888F2F7AD21F}"/>
              </a:ext>
            </a:extLst>
          </p:cNvPr>
          <p:cNvSpPr>
            <a:spLocks noGrp="1"/>
          </p:cNvSpPr>
          <p:nvPr/>
        </p:nvSpPr>
        <p:spPr>
          <a:xfrm>
            <a:off x="6724650" y="2296446"/>
            <a:ext cx="161925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16094D-7E48-4F50-8BAA-C4C5B4FF74A3}"/>
              </a:ext>
            </a:extLst>
          </p:cNvPr>
          <p:cNvSpPr>
            <a:spLocks noGrp="1"/>
          </p:cNvSpPr>
          <p:nvPr/>
        </p:nvSpPr>
        <p:spPr>
          <a:xfrm>
            <a:off x="6724650" y="2306278"/>
            <a:ext cx="66675" cy="1524000"/>
          </a:xfrm>
          <a:prstGeom prst="rect">
            <a:avLst/>
          </a:prstGeom>
          <a:solidFill>
            <a:srgbClr val="B91C1C"/>
          </a:solidFill>
          <a:ln w="0">
            <a:solidFill>
              <a:srgbClr val="B91C1C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7921CF-F167-406D-B662-3A785833D80F}"/>
              </a:ext>
            </a:extLst>
          </p:cNvPr>
          <p:cNvSpPr>
            <a:spLocks noGrp="1"/>
          </p:cNvSpPr>
          <p:nvPr/>
        </p:nvSpPr>
        <p:spPr>
          <a:xfrm>
            <a:off x="6934200" y="2369576"/>
            <a:ext cx="1409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4. Critic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5BE1A0-7315-4F6D-A627-780A0F587420}"/>
              </a:ext>
            </a:extLst>
          </p:cNvPr>
          <p:cNvSpPr>
            <a:spLocks noGrp="1"/>
          </p:cNvSpPr>
          <p:nvPr/>
        </p:nvSpPr>
        <p:spPr>
          <a:xfrm>
            <a:off x="6934200" y="2663316"/>
            <a:ext cx="12001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Flags missing, weak, or contradictory evidence before final answer.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76E28EFF-AB85-4744-B030-ADE5C0256EB6}"/>
              </a:ext>
            </a:extLst>
          </p:cNvPr>
          <p:cNvSpPr>
            <a:spLocks noGrp="1"/>
          </p:cNvSpPr>
          <p:nvPr/>
        </p:nvSpPr>
        <p:spPr>
          <a:xfrm>
            <a:off x="8401050" y="2934931"/>
            <a:ext cx="266700" cy="266700"/>
          </a:xfrm>
          <a:prstGeom prst="rightArrow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B334B2A-F5F8-4D75-A1A4-A3AF596104E2}"/>
              </a:ext>
            </a:extLst>
          </p:cNvPr>
          <p:cNvSpPr>
            <a:spLocks noGrp="1"/>
          </p:cNvSpPr>
          <p:nvPr/>
        </p:nvSpPr>
        <p:spPr>
          <a:xfrm>
            <a:off x="8743950" y="2296446"/>
            <a:ext cx="161925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D7909B2-BD7E-4DF0-9209-47A442118573}"/>
              </a:ext>
            </a:extLst>
          </p:cNvPr>
          <p:cNvSpPr>
            <a:spLocks noGrp="1"/>
          </p:cNvSpPr>
          <p:nvPr/>
        </p:nvSpPr>
        <p:spPr>
          <a:xfrm>
            <a:off x="8743950" y="2306278"/>
            <a:ext cx="66675" cy="1524000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60B86A-3F7E-4805-8FBC-82000F4EE534}"/>
              </a:ext>
            </a:extLst>
          </p:cNvPr>
          <p:cNvSpPr>
            <a:spLocks noGrp="1"/>
          </p:cNvSpPr>
          <p:nvPr/>
        </p:nvSpPr>
        <p:spPr>
          <a:xfrm>
            <a:off x="8953500" y="2369576"/>
            <a:ext cx="1409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5. Synthesizer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239434-6BF5-46EA-8FC2-77849F916CA6}"/>
              </a:ext>
            </a:extLst>
          </p:cNvPr>
          <p:cNvSpPr>
            <a:spLocks noGrp="1"/>
          </p:cNvSpPr>
          <p:nvPr/>
        </p:nvSpPr>
        <p:spPr>
          <a:xfrm>
            <a:off x="8953500" y="2663316"/>
            <a:ext cx="12001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Creates final status, confidence, root cause, and remediation.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82DCC3E-86CD-47E3-B01B-39C9845D8722}"/>
              </a:ext>
            </a:extLst>
          </p:cNvPr>
          <p:cNvSpPr>
            <a:spLocks noGrp="1"/>
          </p:cNvSpPr>
          <p:nvPr/>
        </p:nvSpPr>
        <p:spPr>
          <a:xfrm>
            <a:off x="1143000" y="4388875"/>
            <a:ext cx="438150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44BB7CC-5BB5-4957-9ABF-185F9E6DBA4D}"/>
              </a:ext>
            </a:extLst>
          </p:cNvPr>
          <p:cNvSpPr>
            <a:spLocks noGrp="1"/>
          </p:cNvSpPr>
          <p:nvPr/>
        </p:nvSpPr>
        <p:spPr>
          <a:xfrm>
            <a:off x="1143000" y="4388877"/>
            <a:ext cx="66675" cy="100012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39B1123-7EF6-4507-9D4E-9299DE1DF5AE}"/>
              </a:ext>
            </a:extLst>
          </p:cNvPr>
          <p:cNvSpPr>
            <a:spLocks noGrp="1"/>
          </p:cNvSpPr>
          <p:nvPr/>
        </p:nvSpPr>
        <p:spPr>
          <a:xfrm>
            <a:off x="1352550" y="4432508"/>
            <a:ext cx="3962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Market Data Stress Investigation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475B41A-329C-4C5E-8088-574F32678315}"/>
              </a:ext>
            </a:extLst>
          </p:cNvPr>
          <p:cNvSpPr>
            <a:spLocks noGrp="1"/>
          </p:cNvSpPr>
          <p:nvPr/>
        </p:nvSpPr>
        <p:spPr>
          <a:xfrm>
            <a:off x="1352550" y="4775408"/>
            <a:ext cx="39624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Starts with crossed, locked, and one-sided market conditions; verifies whether protections restrict or normalize unsafe states.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D17E997-EFE5-4380-A546-893D3A739817}"/>
              </a:ext>
            </a:extLst>
          </p:cNvPr>
          <p:cNvSpPr>
            <a:spLocks noGrp="1"/>
          </p:cNvSpPr>
          <p:nvPr/>
        </p:nvSpPr>
        <p:spPr>
          <a:xfrm>
            <a:off x="6667500" y="4388875"/>
            <a:ext cx="438150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1271F51-BDD1-442A-8FBD-7463DB366D93}"/>
              </a:ext>
            </a:extLst>
          </p:cNvPr>
          <p:cNvSpPr>
            <a:spLocks noGrp="1"/>
          </p:cNvSpPr>
          <p:nvPr/>
        </p:nvSpPr>
        <p:spPr>
          <a:xfrm>
            <a:off x="6667500" y="4388877"/>
            <a:ext cx="66675" cy="1000125"/>
          </a:xfrm>
          <a:prstGeom prst="rect">
            <a:avLst/>
          </a:prstGeom>
          <a:solidFill>
            <a:srgbClr val="B91C1C"/>
          </a:solidFill>
          <a:ln w="0">
            <a:solidFill>
              <a:srgbClr val="B91C1C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3E72FD9-F842-4B20-BB4B-2E4DB24450D7}"/>
              </a:ext>
            </a:extLst>
          </p:cNvPr>
          <p:cNvSpPr>
            <a:spLocks noGrp="1"/>
          </p:cNvSpPr>
          <p:nvPr/>
        </p:nvSpPr>
        <p:spPr>
          <a:xfrm>
            <a:off x="6877050" y="4432508"/>
            <a:ext cx="3962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Pre-Trade Risk Control Investigation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2EA0296-1E13-4086-858B-2C69352E1CB0}"/>
              </a:ext>
            </a:extLst>
          </p:cNvPr>
          <p:cNvSpPr>
            <a:spLocks noGrp="1"/>
          </p:cNvSpPr>
          <p:nvPr/>
        </p:nvSpPr>
        <p:spPr>
          <a:xfrm>
            <a:off x="6877050" y="4775408"/>
            <a:ext cx="39624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Starts with duplicate, bad-price, market-order, parent-child, kill-switch, and frequency controls; verifies unsafe order prevention.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5866FDF-B57E-4E08-BE6C-2F34F76E61E9}"/>
              </a:ext>
            </a:extLst>
          </p:cNvPr>
          <p:cNvSpPr>
            <a:spLocks noGrp="1"/>
          </p:cNvSpPr>
          <p:nvPr/>
        </p:nvSpPr>
        <p:spPr>
          <a:xfrm>
            <a:off x="1095375" y="5677821"/>
            <a:ext cx="952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Routing is dynamic within controlled boundaries: the planner chooses the path, while the allowed control groups and deterministic validators keep the result testable.</a:t>
            </a:r>
          </a:p>
        </p:txBody>
      </p:sp>
    </p:spTree>
    <p:extLst>
      <p:ext uri="{BB962C8B-B14F-4D97-AF65-F5344CB8AC3E}">
        <p14:creationId xmlns:p14="http://schemas.microsoft.com/office/powerpoint/2010/main" val="857749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7E7BA54C-565E-4489-ABCF-682A0F3EF3BD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647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CONTROL INVOCATION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F7D923-2E4F-4B92-950B-64842A117336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9334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How investigative agents call deterministic agents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B432E1-8AE2-4632-9402-3EA1FCF150A4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962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Specialist investigation agents do not directly decide pass or fail. They request control execution through the toolbox and registry.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D298DD-C3E7-4C0A-BB87-74082B0D28D7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TIA Architecture | 3/3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CE179BA-B7AD-4575-85A0-CD77835814D3}"/>
              </a:ext>
            </a:extLst>
          </p:cNvPr>
          <p:cNvSpPr>
            <a:spLocks noGrp="1"/>
          </p:cNvSpPr>
          <p:nvPr/>
        </p:nvSpPr>
        <p:spPr>
          <a:xfrm>
            <a:off x="762000" y="2286000"/>
            <a:ext cx="30480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38E4CA-4FA1-48BF-9F33-A10DAA27A7A6}"/>
              </a:ext>
            </a:extLst>
          </p:cNvPr>
          <p:cNvSpPr>
            <a:spLocks noGrp="1"/>
          </p:cNvSpPr>
          <p:nvPr/>
        </p:nvSpPr>
        <p:spPr>
          <a:xfrm>
            <a:off x="762000" y="2286000"/>
            <a:ext cx="66675" cy="1162050"/>
          </a:xfrm>
          <a:prstGeom prst="rect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B3CD4F-627C-4B33-8A28-1FC1960D54D6}"/>
              </a:ext>
            </a:extLst>
          </p:cNvPr>
          <p:cNvSpPr>
            <a:spLocks noGrp="1"/>
          </p:cNvSpPr>
          <p:nvPr/>
        </p:nvSpPr>
        <p:spPr>
          <a:xfrm>
            <a:off x="971550" y="2349295"/>
            <a:ext cx="2628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InvestigationToolbox.run_controls(control_ids, request)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A3DF38-2F7E-4CDF-9AF0-076A7AEE1773}"/>
              </a:ext>
            </a:extLst>
          </p:cNvPr>
          <p:cNvSpPr>
            <a:spLocks noGrp="1"/>
          </p:cNvSpPr>
          <p:nvPr/>
        </p:nvSpPr>
        <p:spPr>
          <a:xfrm>
            <a:off x="971550" y="2800350"/>
            <a:ext cx="2628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Receives selected control IDs from market, order, or engine investigation agents.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D9AA1B7-EA97-4BD0-98AC-B81758B53A0E}"/>
              </a:ext>
            </a:extLst>
          </p:cNvPr>
          <p:cNvSpPr>
            <a:spLocks noGrp="1"/>
          </p:cNvSpPr>
          <p:nvPr/>
        </p:nvSpPr>
        <p:spPr>
          <a:xfrm>
            <a:off x="3952875" y="2724150"/>
            <a:ext cx="323850" cy="266700"/>
          </a:xfrm>
          <a:prstGeom prst="rightArrow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A90426D-F61A-4D6F-A2C4-4DB0C3E076C0}"/>
              </a:ext>
            </a:extLst>
          </p:cNvPr>
          <p:cNvSpPr>
            <a:spLocks noGrp="1"/>
          </p:cNvSpPr>
          <p:nvPr/>
        </p:nvSpPr>
        <p:spPr>
          <a:xfrm>
            <a:off x="4333875" y="2286000"/>
            <a:ext cx="28575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BBB43D-6694-4DCE-B387-A65B5AEFCC19}"/>
              </a:ext>
            </a:extLst>
          </p:cNvPr>
          <p:cNvSpPr>
            <a:spLocks noGrp="1"/>
          </p:cNvSpPr>
          <p:nvPr/>
        </p:nvSpPr>
        <p:spPr>
          <a:xfrm>
            <a:off x="4333875" y="2286000"/>
            <a:ext cx="66675" cy="11620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15B408-916E-4C7E-9526-E44DFC64BF46}"/>
              </a:ext>
            </a:extLst>
          </p:cNvPr>
          <p:cNvSpPr>
            <a:spLocks noGrp="1"/>
          </p:cNvSpPr>
          <p:nvPr/>
        </p:nvSpPr>
        <p:spPr>
          <a:xfrm>
            <a:off x="4543425" y="2349295"/>
            <a:ext cx="2438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Knowledge catalog lookup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1389C0-5210-476C-950E-B56B1C87FC09}"/>
              </a:ext>
            </a:extLst>
          </p:cNvPr>
          <p:cNvSpPr>
            <a:spLocks noGrp="1"/>
          </p:cNvSpPr>
          <p:nvPr/>
        </p:nvSpPr>
        <p:spPr>
          <a:xfrm>
            <a:off x="4543425" y="2711860"/>
            <a:ext cx="2438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122033"/>
                </a:solidFill>
                <a:latin typeface="Aptos"/>
                <a:ea typeface="Aptos"/>
                <a:cs typeface="Aptos"/>
              </a:rPr>
              <a:t>Maps control IDs such as CTRL-002 or STRESS-001 to scenario name and </a:t>
            </a:r>
            <a:r>
              <a:rPr sz="1125" b="0" dirty="0" err="1">
                <a:solidFill>
                  <a:srgbClr val="122033"/>
                </a:solidFill>
                <a:latin typeface="Aptos"/>
                <a:ea typeface="Aptos"/>
                <a:cs typeface="Aptos"/>
              </a:rPr>
              <a:t>validation_agent</a:t>
            </a:r>
            <a:r>
              <a:rPr sz="1125" b="0" dirty="0">
                <a:solidFill>
                  <a:srgbClr val="122033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B038CE8E-2736-4B41-B9A7-1634C2855E04}"/>
              </a:ext>
            </a:extLst>
          </p:cNvPr>
          <p:cNvSpPr>
            <a:spLocks noGrp="1"/>
          </p:cNvSpPr>
          <p:nvPr/>
        </p:nvSpPr>
        <p:spPr>
          <a:xfrm>
            <a:off x="7334250" y="2724150"/>
            <a:ext cx="323850" cy="266700"/>
          </a:xfrm>
          <a:prstGeom prst="rightArrow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3403BB2-FAEF-4CB9-B474-96070D095C3F}"/>
              </a:ext>
            </a:extLst>
          </p:cNvPr>
          <p:cNvSpPr>
            <a:spLocks noGrp="1"/>
          </p:cNvSpPr>
          <p:nvPr/>
        </p:nvSpPr>
        <p:spPr>
          <a:xfrm>
            <a:off x="7715250" y="2286000"/>
            <a:ext cx="32385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ABC569-F331-483B-AF92-D19A1732B642}"/>
              </a:ext>
            </a:extLst>
          </p:cNvPr>
          <p:cNvSpPr>
            <a:spLocks noGrp="1"/>
          </p:cNvSpPr>
          <p:nvPr/>
        </p:nvSpPr>
        <p:spPr>
          <a:xfrm>
            <a:off x="7715250" y="2286000"/>
            <a:ext cx="66675" cy="1162050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3248D3-D15A-4AEF-91EB-D9DEA892575B}"/>
              </a:ext>
            </a:extLst>
          </p:cNvPr>
          <p:cNvSpPr>
            <a:spLocks noGrp="1"/>
          </p:cNvSpPr>
          <p:nvPr/>
        </p:nvSpPr>
        <p:spPr>
          <a:xfrm>
            <a:off x="7924800" y="2349295"/>
            <a:ext cx="3086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 dirty="0" err="1">
                <a:solidFill>
                  <a:srgbClr val="B45309"/>
                </a:solidFill>
                <a:latin typeface="Aptos"/>
                <a:ea typeface="Aptos"/>
                <a:cs typeface="Aptos"/>
              </a:rPr>
              <a:t>agent_registry.get</a:t>
            </a:r>
            <a:r>
              <a:rPr sz="1350" b="1" dirty="0">
                <a:solidFill>
                  <a:srgbClr val="B45309"/>
                </a:solidFill>
                <a:latin typeface="Aptos"/>
                <a:ea typeface="Aptos"/>
                <a:cs typeface="Aptos"/>
              </a:rPr>
              <a:t>(</a:t>
            </a:r>
            <a:r>
              <a:rPr sz="1350" b="1" dirty="0" err="1">
                <a:solidFill>
                  <a:srgbClr val="B45309"/>
                </a:solidFill>
                <a:latin typeface="Aptos"/>
                <a:ea typeface="Aptos"/>
                <a:cs typeface="Aptos"/>
              </a:rPr>
              <a:t>validation_agent</a:t>
            </a:r>
            <a:r>
              <a:rPr sz="1350" b="1" dirty="0">
                <a:solidFill>
                  <a:srgbClr val="B45309"/>
                </a:solidFill>
                <a:latin typeface="Aptos"/>
                <a:ea typeface="Aptos"/>
                <a:cs typeface="Aptos"/>
              </a:rPr>
              <a:t>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85313F-05B8-4243-AFEE-4C14A15B8AB1}"/>
              </a:ext>
            </a:extLst>
          </p:cNvPr>
          <p:cNvSpPr>
            <a:spLocks noGrp="1"/>
          </p:cNvSpPr>
          <p:nvPr/>
        </p:nvSpPr>
        <p:spPr>
          <a:xfrm>
            <a:off x="7924800" y="2711862"/>
            <a:ext cx="2819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122033"/>
                </a:solidFill>
                <a:latin typeface="Aptos"/>
                <a:ea typeface="Aptos"/>
                <a:cs typeface="Aptos"/>
              </a:rPr>
              <a:t>Resolves the deterministic validation agent such as duplicate-order-agent or crossed-market-agent.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EAFD3A51-C352-4C69-9980-3F53864C3A46}"/>
              </a:ext>
            </a:extLst>
          </p:cNvPr>
          <p:cNvSpPr>
            <a:spLocks noGrp="1"/>
          </p:cNvSpPr>
          <p:nvPr/>
        </p:nvSpPr>
        <p:spPr>
          <a:xfrm>
            <a:off x="5810250" y="3638550"/>
            <a:ext cx="304800" cy="400050"/>
          </a:xfrm>
          <a:prstGeom prst="downArrow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87C7B47-F152-4180-A5EF-6F32218A8FC7}"/>
              </a:ext>
            </a:extLst>
          </p:cNvPr>
          <p:cNvSpPr>
            <a:spLocks noGrp="1"/>
          </p:cNvSpPr>
          <p:nvPr/>
        </p:nvSpPr>
        <p:spPr>
          <a:xfrm>
            <a:off x="2714625" y="4162425"/>
            <a:ext cx="3143250" cy="126682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977148-7926-4C68-8633-2CA942E0DD54}"/>
              </a:ext>
            </a:extLst>
          </p:cNvPr>
          <p:cNvSpPr>
            <a:spLocks noGrp="1"/>
          </p:cNvSpPr>
          <p:nvPr/>
        </p:nvSpPr>
        <p:spPr>
          <a:xfrm>
            <a:off x="2714625" y="4162425"/>
            <a:ext cx="66675" cy="12668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0D9321-D518-433C-B126-FD7FF6983BE8}"/>
              </a:ext>
            </a:extLst>
          </p:cNvPr>
          <p:cNvSpPr>
            <a:spLocks noGrp="1"/>
          </p:cNvSpPr>
          <p:nvPr/>
        </p:nvSpPr>
        <p:spPr>
          <a:xfrm>
            <a:off x="2924175" y="4231558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047857"/>
                </a:solidFill>
                <a:latin typeface="Aptos"/>
                <a:ea typeface="Aptos"/>
                <a:cs typeface="Aptos"/>
              </a:rPr>
              <a:t>validator._</a:t>
            </a:r>
            <a:r>
              <a:rPr sz="1350" b="1" dirty="0" err="1">
                <a:solidFill>
                  <a:srgbClr val="047857"/>
                </a:solidFill>
                <a:latin typeface="Aptos"/>
                <a:ea typeface="Aptos"/>
                <a:cs typeface="Aptos"/>
              </a:rPr>
              <a:t>run_control</a:t>
            </a:r>
            <a:r>
              <a:rPr sz="1350" b="1" dirty="0">
                <a:solidFill>
                  <a:srgbClr val="047857"/>
                </a:solidFill>
                <a:latin typeface="Aptos"/>
                <a:ea typeface="Aptos"/>
                <a:cs typeface="Aptos"/>
              </a:rPr>
              <a:t>(control, context)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ED3A68-7B96-4D52-BAE6-68AF5B2A3149}"/>
              </a:ext>
            </a:extLst>
          </p:cNvPr>
          <p:cNvSpPr>
            <a:spLocks noGrp="1"/>
          </p:cNvSpPr>
          <p:nvPr/>
        </p:nvSpPr>
        <p:spPr>
          <a:xfrm>
            <a:off x="2924175" y="4653120"/>
            <a:ext cx="2724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Executes the deterministic agent against seeded demo evidence or AlgoEngine_TCP and returns structured evidence.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29AD58AB-2369-415F-910C-C3323A0F38E6}"/>
              </a:ext>
            </a:extLst>
          </p:cNvPr>
          <p:cNvSpPr>
            <a:spLocks noGrp="1"/>
          </p:cNvSpPr>
          <p:nvPr/>
        </p:nvSpPr>
        <p:spPr>
          <a:xfrm>
            <a:off x="6000750" y="4576920"/>
            <a:ext cx="323850" cy="266700"/>
          </a:xfrm>
          <a:prstGeom prst="rightArrow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DE6913B-0DDA-40AA-8A2B-A68648D4A6B7}"/>
              </a:ext>
            </a:extLst>
          </p:cNvPr>
          <p:cNvSpPr>
            <a:spLocks noGrp="1"/>
          </p:cNvSpPr>
          <p:nvPr/>
        </p:nvSpPr>
        <p:spPr>
          <a:xfrm>
            <a:off x="6477000" y="4162425"/>
            <a:ext cx="3143250" cy="126682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5FAF035-8BFE-40E0-9252-38171D7FB353}"/>
              </a:ext>
            </a:extLst>
          </p:cNvPr>
          <p:cNvSpPr>
            <a:spLocks noGrp="1"/>
          </p:cNvSpPr>
          <p:nvPr/>
        </p:nvSpPr>
        <p:spPr>
          <a:xfrm>
            <a:off x="6497956" y="4162425"/>
            <a:ext cx="45719" cy="1266825"/>
          </a:xfrm>
          <a:prstGeom prst="rect">
            <a:avLst/>
          </a:prstGeom>
          <a:solidFill>
            <a:srgbClr val="B91C1C"/>
          </a:solidFill>
          <a:ln w="0">
            <a:solidFill>
              <a:srgbClr val="B91C1C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B808A39-D38C-47FF-8EF4-CB8E4418BC8E}"/>
              </a:ext>
            </a:extLst>
          </p:cNvPr>
          <p:cNvSpPr>
            <a:spLocks noGrp="1"/>
          </p:cNvSpPr>
          <p:nvPr/>
        </p:nvSpPr>
        <p:spPr>
          <a:xfrm>
            <a:off x="6686550" y="4231557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B91C1C"/>
                </a:solidFill>
                <a:latin typeface="Aptos"/>
                <a:ea typeface="Aptos"/>
                <a:cs typeface="Aptos"/>
              </a:rPr>
              <a:t>Finding output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9CF8469-25AA-4E1B-92F7-FF4281D16EF7}"/>
              </a:ext>
            </a:extLst>
          </p:cNvPr>
          <p:cNvSpPr>
            <a:spLocks noGrp="1"/>
          </p:cNvSpPr>
          <p:nvPr/>
        </p:nvSpPr>
        <p:spPr>
          <a:xfrm>
            <a:off x="6686550" y="4653120"/>
            <a:ext cx="2724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PASS / FAIL / REVIEW, confidence, root cause, reason codes, remediation, evidence table, and agent trace.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8D0507F-91C8-4269-9531-5BF317CF8FF6}"/>
              </a:ext>
            </a:extLst>
          </p:cNvPr>
          <p:cNvSpPr>
            <a:spLocks noGrp="1"/>
          </p:cNvSpPr>
          <p:nvPr/>
        </p:nvSpPr>
        <p:spPr>
          <a:xfrm>
            <a:off x="1238250" y="5857875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Current MVP: rule-driven agentic orchestration over deterministic validation tools. Future enhancement: optional LLM-assisted planner with allow-listed paths and fallback to rules.</a:t>
            </a:r>
          </a:p>
        </p:txBody>
      </p:sp>
    </p:spTree>
    <p:extLst>
      <p:ext uri="{BB962C8B-B14F-4D97-AF65-F5344CB8AC3E}">
        <p14:creationId xmlns:p14="http://schemas.microsoft.com/office/powerpoint/2010/main" val="10300237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531</Words>
  <Application>Microsoft Office PowerPoint</Application>
  <DocSecurity>0</DocSecurity>
  <PresentationFormat>Widescreen</PresentationFormat>
  <Paragraphs>51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Ganesh Kumar</cp:lastModifiedBy>
  <cp:revision>3</cp:revision>
  <dcterms:created xsi:type="dcterms:W3CDTF">2026-06-21T08:15:35Z</dcterms:created>
  <dcterms:modified xsi:type="dcterms:W3CDTF">2026-06-21T08:49:09Z</dcterms:modified>
</cp:coreProperties>
</file>